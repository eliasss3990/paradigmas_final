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9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9238C-AD92-4E3B-AD1D-4D261664491A}" type="datetimeFigureOut">
              <a:t>30/6/2026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7C6739-74F5-4816-8AB4-DDD51FD1236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7543800" y="-1097280"/>
            <a:ext cx="4343400" cy="4343400"/>
          </a:xfrm>
          <a:prstGeom prst="arc">
            <a:avLst/>
          </a:prstGeom>
          <a:noFill/>
          <a:ln w="12700">
            <a:solidFill>
              <a:srgbClr val="14324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8549640" y="182880"/>
            <a:ext cx="3291840" cy="3291840"/>
          </a:xfrm>
          <a:prstGeom prst="ellipse">
            <a:avLst/>
          </a:prstGeom>
          <a:solidFill>
            <a:srgbClr val="10233D">
              <a:alpha val="95000"/>
            </a:srgbClr>
          </a:solidFill>
          <a:ln w="12700">
            <a:solidFill>
              <a:srgbClr val="10233D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Shape 3"/>
          <p:cNvSpPr/>
          <p:nvPr/>
        </p:nvSpPr>
        <p:spPr>
          <a:xfrm>
            <a:off x="594360" y="621792"/>
            <a:ext cx="137160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B981"/>
                </a:solidFill>
              </a:rPr>
              <a:t>PROYECTO FINAL · GRUPO 15</a:t>
            </a:r>
            <a:endParaRPr lang="en-US" sz="92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700" b="1" dirty="0">
                <a:solidFill>
                  <a:srgbClr val="FFFFFF"/>
                </a:solidFill>
              </a:rPr>
              <a:t>Sistema de Gestión</a:t>
            </a:r>
            <a:endParaRPr lang="en-US" sz="3700" dirty="0"/>
          </a:p>
          <a:p>
            <a:pPr marL="0" indent="0">
              <a:buNone/>
            </a:pPr>
            <a:r>
              <a:rPr lang="en-US" sz="3700" b="1" dirty="0">
                <a:solidFill>
                  <a:srgbClr val="FFFFFF"/>
                </a:solidFill>
              </a:rPr>
              <a:t>de Eventos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944368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D7E3F0"/>
                </a:solidFill>
              </a:rPr>
              <a:t>Demo de producto para una aplicación de consola que centraliza eventos, valida datos y muestra información operativa.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621792" y="3822192"/>
            <a:ext cx="1508760" cy="320040"/>
          </a:xfrm>
          <a:prstGeom prst="roundRect">
            <a:avLst>
              <a:gd name="adj" fmla="val 2285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0" name="Text 8"/>
          <p:cNvSpPr/>
          <p:nvPr/>
        </p:nvSpPr>
        <p:spPr>
          <a:xfrm>
            <a:off x="713232" y="3904488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Elías González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2286000" y="3822192"/>
            <a:ext cx="1609344" cy="320040"/>
          </a:xfrm>
          <a:prstGeom prst="roundRect">
            <a:avLst>
              <a:gd name="adj" fmla="val 2285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2377440" y="3904488"/>
            <a:ext cx="1426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Enzo Domínguez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4050792" y="3822192"/>
            <a:ext cx="1627632" cy="320040"/>
          </a:xfrm>
          <a:prstGeom prst="roundRect">
            <a:avLst>
              <a:gd name="adj" fmla="val 2285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4" name="Text 12"/>
          <p:cNvSpPr/>
          <p:nvPr/>
        </p:nvSpPr>
        <p:spPr>
          <a:xfrm>
            <a:off x="4142232" y="3904488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Nicolás Bareiro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621792" y="623620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A7F3D0"/>
                </a:solidFill>
              </a:rPr>
              <a:t>Paradigmas de la Programación · FP-UNA · 2026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720840" y="1417320"/>
            <a:ext cx="4663440" cy="3246120"/>
          </a:xfrm>
          <a:prstGeom prst="roundRect">
            <a:avLst>
              <a:gd name="adj" fmla="val 2254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7" name="Shape 15"/>
          <p:cNvSpPr/>
          <p:nvPr/>
        </p:nvSpPr>
        <p:spPr>
          <a:xfrm>
            <a:off x="6720840" y="1417320"/>
            <a:ext cx="466344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8" name="Shape 16"/>
          <p:cNvSpPr/>
          <p:nvPr/>
        </p:nvSpPr>
        <p:spPr>
          <a:xfrm>
            <a:off x="6867144" y="151790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7004304" y="151790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Shape 18"/>
          <p:cNvSpPr/>
          <p:nvPr/>
        </p:nvSpPr>
        <p:spPr>
          <a:xfrm>
            <a:off x="7141464" y="151790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1" name="Text 19"/>
          <p:cNvSpPr/>
          <p:nvPr/>
        </p:nvSpPr>
        <p:spPr>
          <a:xfrm>
            <a:off x="7360920" y="1504188"/>
            <a:ext cx="3886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Vista del sistema en consola</a:t>
            </a:r>
            <a:endParaRPr lang="en-US" sz="680" dirty="0"/>
          </a:p>
        </p:txBody>
      </p:sp>
      <p:sp>
        <p:nvSpPr>
          <p:cNvPr id="23" name="Shape 20"/>
          <p:cNvSpPr/>
          <p:nvPr/>
        </p:nvSpPr>
        <p:spPr>
          <a:xfrm>
            <a:off x="6720840" y="1691640"/>
            <a:ext cx="466344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pic>
        <p:nvPicPr>
          <p:cNvPr id="24" name="Picture 23" descr="1_mockup_menu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1737360"/>
            <a:ext cx="4626864" cy="2889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RESUMEN EJECUTIVO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entregamos y por qué importa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" y="1481328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40080" y="1481328"/>
            <a:ext cx="73152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868680" y="1645920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Producto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2048256"/>
            <a:ext cx="2862072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Una aplicación de consola para administrar una agenda de eventos especializada por deporte.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498848" y="1481328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498848" y="1481328"/>
            <a:ext cx="73152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727448" y="1645920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Valor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27448" y="2048256"/>
            <a:ext cx="2862072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Controla cupos, evita sobreventa, guía la carga de datos y ofrece indicadores de seguimiento.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357616" y="1481328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8357616" y="1481328"/>
            <a:ext cx="73152" cy="1965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8"/>
          <p:cNvSpPr/>
          <p:nvPr/>
        </p:nvSpPr>
        <p:spPr>
          <a:xfrm>
            <a:off x="8586216" y="1645920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Demostración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86216" y="2048256"/>
            <a:ext cx="2862072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La defensa se apoya en una demo en vivo: alta, validación, venta de entradas y estadísticas.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713232" y="3977640"/>
            <a:ext cx="4892040" cy="1664208"/>
          </a:xfrm>
          <a:prstGeom prst="roundRect">
            <a:avLst>
              <a:gd name="adj" fmla="val 4396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Shape 21"/>
          <p:cNvSpPr/>
          <p:nvPr/>
        </p:nvSpPr>
        <p:spPr>
          <a:xfrm>
            <a:off x="713232" y="3977640"/>
            <a:ext cx="489204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2"/>
          <p:cNvSpPr/>
          <p:nvPr/>
        </p:nvSpPr>
        <p:spPr>
          <a:xfrm>
            <a:off x="859536" y="407822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5" name="Shape 23"/>
          <p:cNvSpPr/>
          <p:nvPr/>
        </p:nvSpPr>
        <p:spPr>
          <a:xfrm>
            <a:off x="996696" y="407822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Shape 24"/>
          <p:cNvSpPr/>
          <p:nvPr/>
        </p:nvSpPr>
        <p:spPr>
          <a:xfrm>
            <a:off x="1133856" y="407822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7" name="Text 25"/>
          <p:cNvSpPr/>
          <p:nvPr/>
        </p:nvSpPr>
        <p:spPr>
          <a:xfrm>
            <a:off x="1353312" y="4064508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Venta con control automático de cupo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>
            <a:off x="713232" y="4251960"/>
            <a:ext cx="489204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7"/>
          <p:cNvSpPr/>
          <p:nvPr/>
        </p:nvSpPr>
        <p:spPr>
          <a:xfrm>
            <a:off x="5989320" y="3977640"/>
            <a:ext cx="5413248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1" name="Shape 28"/>
          <p:cNvSpPr/>
          <p:nvPr/>
        </p:nvSpPr>
        <p:spPr>
          <a:xfrm>
            <a:off x="5989320" y="3977640"/>
            <a:ext cx="73152" cy="16642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Text 29"/>
          <p:cNvSpPr/>
          <p:nvPr/>
        </p:nvSpPr>
        <p:spPr>
          <a:xfrm>
            <a:off x="6217920" y="4142232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Idea central para la audiencia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6217920" y="4544568"/>
            <a:ext cx="5029200" cy="9784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0F172A"/>
                </a:solidFill>
              </a:rPr>
              <a:t>El sistema no solo registra eventos: aplica reglas de negocio, protege la calidad de datos y transforma la actividad de la agenda en información visible.</a:t>
            </a:r>
            <a:endParaRPr lang="en-US" sz="1130" dirty="0"/>
          </a:p>
        </p:txBody>
      </p:sp>
      <p:pic>
        <p:nvPicPr>
          <p:cNvPr id="34" name="Picture 33" descr="2_mockup_venta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297680"/>
            <a:ext cx="4855464" cy="13075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NECESIDAD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problema que resuelve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34290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58368" y="1417320"/>
            <a:ext cx="73152" cy="2057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886968" y="1581912"/>
            <a:ext cx="3044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Gestión manual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86968" y="1984248"/>
            <a:ext cx="3044952" cy="1371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Registrar eventos sin un sistema centralizado puede generar datos incompletos o difíciles de consultar.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389120" y="1417320"/>
            <a:ext cx="34290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389120" y="1417320"/>
            <a:ext cx="73152" cy="2057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617720" y="1581912"/>
            <a:ext cx="3044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Riesgo de cupo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617720" y="1984248"/>
            <a:ext cx="3044952" cy="1371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Sin control automático, las ventas pueden superar la capacidad real del evento.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119872" y="1417320"/>
            <a:ext cx="34290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8119872" y="1417320"/>
            <a:ext cx="73152" cy="2057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8"/>
          <p:cNvSpPr/>
          <p:nvPr/>
        </p:nvSpPr>
        <p:spPr>
          <a:xfrm>
            <a:off x="8348472" y="1581912"/>
            <a:ext cx="3044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Poca visibilidad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48472" y="1984248"/>
            <a:ext cx="3044952" cy="1371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Sin indicadores, cuesta saber cuántos eventos están confirmados, pendientes o con entradas vendidas.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749808" y="3840480"/>
            <a:ext cx="4800600" cy="1691640"/>
          </a:xfrm>
          <a:prstGeom prst="roundRect">
            <a:avLst>
              <a:gd name="adj" fmla="val 4324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Shape 21"/>
          <p:cNvSpPr/>
          <p:nvPr/>
        </p:nvSpPr>
        <p:spPr>
          <a:xfrm>
            <a:off x="749808" y="3840480"/>
            <a:ext cx="480060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2"/>
          <p:cNvSpPr/>
          <p:nvPr/>
        </p:nvSpPr>
        <p:spPr>
          <a:xfrm>
            <a:off x="896112" y="394106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5" name="Shape 23"/>
          <p:cNvSpPr/>
          <p:nvPr/>
        </p:nvSpPr>
        <p:spPr>
          <a:xfrm>
            <a:off x="1033272" y="394106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Shape 24"/>
          <p:cNvSpPr/>
          <p:nvPr/>
        </p:nvSpPr>
        <p:spPr>
          <a:xfrm>
            <a:off x="1170432" y="394106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7" name="Text 25"/>
          <p:cNvSpPr/>
          <p:nvPr/>
        </p:nvSpPr>
        <p:spPr>
          <a:xfrm>
            <a:off x="1389888" y="3927348"/>
            <a:ext cx="4023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Validación durante la carga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>
            <a:off x="749808" y="4114800"/>
            <a:ext cx="480060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7"/>
          <p:cNvSpPr/>
          <p:nvPr/>
        </p:nvSpPr>
        <p:spPr>
          <a:xfrm>
            <a:off x="5989320" y="38404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1" name="Shape 28"/>
          <p:cNvSpPr/>
          <p:nvPr/>
        </p:nvSpPr>
        <p:spPr>
          <a:xfrm>
            <a:off x="5989320" y="3840480"/>
            <a:ext cx="73152" cy="16916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Text 29"/>
          <p:cNvSpPr/>
          <p:nvPr/>
        </p:nvSpPr>
        <p:spPr>
          <a:xfrm>
            <a:off x="6217920" y="4005072"/>
            <a:ext cx="50109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Respuesta de la solución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6217920" y="4407408"/>
            <a:ext cx="501091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Centralizar el flujo en consola, validar entradas incorrectas y mostrar métricas claras al finalizar la operación.</a:t>
            </a:r>
            <a:endParaRPr lang="en-US" sz="1100" dirty="0"/>
          </a:p>
        </p:txBody>
      </p:sp>
      <p:pic>
        <p:nvPicPr>
          <p:cNvPr id="34" name="Picture 33" descr="3_mockup_alta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4160520"/>
            <a:ext cx="4764024" cy="13350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PROPUESTA DE VALOR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Control, trazabilidad y visibilidad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04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58368" y="1417320"/>
            <a:ext cx="73152" cy="2148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886968" y="1581912"/>
            <a:ext cx="2953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Control operativo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86968" y="1984248"/>
            <a:ext cx="295351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El sistema valida fecha, cupo positivo y disponibilidad antes de aceptar cada operación.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425696" y="141732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425696" y="1417320"/>
            <a:ext cx="73152" cy="2148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654296" y="1581912"/>
            <a:ext cx="2953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Trazabilidad del evento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654296" y="1984248"/>
            <a:ext cx="295351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Cada registro conserva nombre, fecha, lugar, categoría, capacidad, ventas y estado.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193024" y="141732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8193024" y="1417320"/>
            <a:ext cx="73152" cy="2148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8"/>
          <p:cNvSpPr/>
          <p:nvPr/>
        </p:nvSpPr>
        <p:spPr>
          <a:xfrm>
            <a:off x="8421624" y="1581912"/>
            <a:ext cx="2953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Información útil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21624" y="1984248"/>
            <a:ext cx="295351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Las estadísticas resumen confirmados, pendientes, entradas vendidas, cupo total, ocupación y categorías.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960120" y="406908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Text 21"/>
          <p:cNvSpPr/>
          <p:nvPr/>
        </p:nvSpPr>
        <p:spPr>
          <a:xfrm>
            <a:off x="1124712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59669"/>
                </a:solidFill>
              </a:rPr>
              <a:t>0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97280" y="46451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Sobreventas permitidas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401568" y="406908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6" name="Text 24"/>
          <p:cNvSpPr/>
          <p:nvPr/>
        </p:nvSpPr>
        <p:spPr>
          <a:xfrm>
            <a:off x="35661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</a:rPr>
              <a:t>54%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538728" y="46451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Ocupación en la demo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843016" y="406908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9" name="Text 27"/>
          <p:cNvSpPr/>
          <p:nvPr/>
        </p:nvSpPr>
        <p:spPr>
          <a:xfrm>
            <a:off x="6007608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9E0B"/>
                </a:solidFill>
              </a:rPr>
              <a:t>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980176" y="46451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Eventos del escenario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284464" y="406908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2" name="Text 30"/>
          <p:cNvSpPr/>
          <p:nvPr/>
        </p:nvSpPr>
        <p:spPr>
          <a:xfrm>
            <a:off x="8449056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</a:rPr>
              <a:t>3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421624" y="46451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Vistas de análisis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87552" y="5532120"/>
            <a:ext cx="78985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CAPACIDADES PRINCIPALES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Todo lo que permite hacer la aplicación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1444752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73152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Shape 10"/>
          <p:cNvSpPr/>
          <p:nvPr/>
        </p:nvSpPr>
        <p:spPr>
          <a:xfrm>
            <a:off x="841248" y="1645920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3" name="Text 11"/>
          <p:cNvSpPr/>
          <p:nvPr/>
        </p:nvSpPr>
        <p:spPr>
          <a:xfrm>
            <a:off x="841248" y="1732788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3716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Crear agenda</a:t>
            </a:r>
            <a:endParaRPr lang="en-US" sz="1210" dirty="0"/>
          </a:p>
        </p:txBody>
      </p:sp>
      <p:sp>
        <p:nvSpPr>
          <p:cNvPr id="15" name="Text 13"/>
          <p:cNvSpPr/>
          <p:nvPr/>
        </p:nvSpPr>
        <p:spPr>
          <a:xfrm>
            <a:off x="1371600" y="201168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Nombre y deporte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4416552" y="1444752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7" name="Shape 15"/>
          <p:cNvSpPr/>
          <p:nvPr/>
        </p:nvSpPr>
        <p:spPr>
          <a:xfrm>
            <a:off x="4416552" y="1444752"/>
            <a:ext cx="73152" cy="10789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8" name="Shape 16"/>
          <p:cNvSpPr/>
          <p:nvPr/>
        </p:nvSpPr>
        <p:spPr>
          <a:xfrm>
            <a:off x="4599432" y="164592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9" name="Text 17"/>
          <p:cNvSpPr/>
          <p:nvPr/>
        </p:nvSpPr>
        <p:spPr>
          <a:xfrm>
            <a:off x="4599432" y="1732788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129784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Registrar eventos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5129784" y="201168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Fecha, lugar, categoría y cupo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8174736" y="1444752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Shape 21"/>
          <p:cNvSpPr/>
          <p:nvPr/>
        </p:nvSpPr>
        <p:spPr>
          <a:xfrm>
            <a:off x="8174736" y="1444752"/>
            <a:ext cx="73152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2"/>
          <p:cNvSpPr/>
          <p:nvPr/>
        </p:nvSpPr>
        <p:spPr>
          <a:xfrm>
            <a:off x="8357616" y="164592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5" name="Text 23"/>
          <p:cNvSpPr/>
          <p:nvPr/>
        </p:nvSpPr>
        <p:spPr>
          <a:xfrm>
            <a:off x="8357616" y="1732788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887968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Listar eventos</a:t>
            </a:r>
            <a:endParaRPr lang="en-US" sz="1210" dirty="0"/>
          </a:p>
        </p:txBody>
      </p:sp>
      <p:sp>
        <p:nvSpPr>
          <p:cNvPr id="27" name="Text 25"/>
          <p:cNvSpPr/>
          <p:nvPr/>
        </p:nvSpPr>
        <p:spPr>
          <a:xfrm>
            <a:off x="8887968" y="201168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Vista completa de la agenda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658368" y="2834640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9" name="Shape 27"/>
          <p:cNvSpPr/>
          <p:nvPr/>
        </p:nvSpPr>
        <p:spPr>
          <a:xfrm>
            <a:off x="658368" y="2834640"/>
            <a:ext cx="73152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8"/>
          <p:cNvSpPr/>
          <p:nvPr/>
        </p:nvSpPr>
        <p:spPr>
          <a:xfrm>
            <a:off x="841248" y="3035808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1" name="Text 29"/>
          <p:cNvSpPr/>
          <p:nvPr/>
        </p:nvSpPr>
        <p:spPr>
          <a:xfrm>
            <a:off x="841248" y="3122676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3716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Buscar</a:t>
            </a:r>
            <a:endParaRPr lang="en-US" sz="1210" dirty="0"/>
          </a:p>
        </p:txBody>
      </p:sp>
      <p:sp>
        <p:nvSpPr>
          <p:cNvPr id="33" name="Text 31"/>
          <p:cNvSpPr/>
          <p:nvPr/>
        </p:nvSpPr>
        <p:spPr>
          <a:xfrm>
            <a:off x="1371600" y="34015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Coincidencia parcial por nombre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4416552" y="2834640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5" name="Shape 33"/>
          <p:cNvSpPr/>
          <p:nvPr/>
        </p:nvSpPr>
        <p:spPr>
          <a:xfrm>
            <a:off x="4416552" y="2834640"/>
            <a:ext cx="73152" cy="10789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6" name="Shape 34"/>
          <p:cNvSpPr/>
          <p:nvPr/>
        </p:nvSpPr>
        <p:spPr>
          <a:xfrm>
            <a:off x="4599432" y="3035808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7" name="Text 35"/>
          <p:cNvSpPr/>
          <p:nvPr/>
        </p:nvSpPr>
        <p:spPr>
          <a:xfrm>
            <a:off x="4599432" y="3122676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129784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Filtrar</a:t>
            </a:r>
            <a:endParaRPr lang="en-US" sz="1210" dirty="0"/>
          </a:p>
        </p:txBody>
      </p:sp>
      <p:sp>
        <p:nvSpPr>
          <p:cNvPr id="39" name="Text 37"/>
          <p:cNvSpPr/>
          <p:nvPr/>
        </p:nvSpPr>
        <p:spPr>
          <a:xfrm>
            <a:off x="5129784" y="34015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Categorías de evento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8174736" y="2834640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41" name="Shape 39"/>
          <p:cNvSpPr/>
          <p:nvPr/>
        </p:nvSpPr>
        <p:spPr>
          <a:xfrm>
            <a:off x="8174736" y="2834640"/>
            <a:ext cx="73152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2" name="Shape 40"/>
          <p:cNvSpPr/>
          <p:nvPr/>
        </p:nvSpPr>
        <p:spPr>
          <a:xfrm>
            <a:off x="8357616" y="3035808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3" name="Text 41"/>
          <p:cNvSpPr/>
          <p:nvPr/>
        </p:nvSpPr>
        <p:spPr>
          <a:xfrm>
            <a:off x="8357616" y="3122676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6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887968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Confirmar</a:t>
            </a:r>
            <a:endParaRPr lang="en-US" sz="1210" dirty="0"/>
          </a:p>
        </p:txBody>
      </p:sp>
      <p:sp>
        <p:nvSpPr>
          <p:cNvPr id="45" name="Text 43"/>
          <p:cNvSpPr/>
          <p:nvPr/>
        </p:nvSpPr>
        <p:spPr>
          <a:xfrm>
            <a:off x="8887968" y="34015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Estado operativo del evento</a:t>
            </a:r>
            <a:endParaRPr lang="en-US" sz="870" dirty="0"/>
          </a:p>
        </p:txBody>
      </p:sp>
      <p:sp>
        <p:nvSpPr>
          <p:cNvPr id="46" name="Shape 44"/>
          <p:cNvSpPr/>
          <p:nvPr/>
        </p:nvSpPr>
        <p:spPr>
          <a:xfrm>
            <a:off x="658368" y="4224528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47" name="Shape 45"/>
          <p:cNvSpPr/>
          <p:nvPr/>
        </p:nvSpPr>
        <p:spPr>
          <a:xfrm>
            <a:off x="658368" y="4224528"/>
            <a:ext cx="73152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8" name="Shape 46"/>
          <p:cNvSpPr/>
          <p:nvPr/>
        </p:nvSpPr>
        <p:spPr>
          <a:xfrm>
            <a:off x="841248" y="4425696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9" name="Text 47"/>
          <p:cNvSpPr/>
          <p:nvPr/>
        </p:nvSpPr>
        <p:spPr>
          <a:xfrm>
            <a:off x="841248" y="4512564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7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371600" y="44074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Vender entradas</a:t>
            </a:r>
            <a:endParaRPr lang="en-US" sz="1210" dirty="0"/>
          </a:p>
        </p:txBody>
      </p:sp>
      <p:sp>
        <p:nvSpPr>
          <p:cNvPr id="51" name="Text 49"/>
          <p:cNvSpPr/>
          <p:nvPr/>
        </p:nvSpPr>
        <p:spPr>
          <a:xfrm>
            <a:off x="1371600" y="47914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Control automático de disponibilidad</a:t>
            </a:r>
            <a:endParaRPr lang="en-US" sz="870" dirty="0"/>
          </a:p>
        </p:txBody>
      </p:sp>
      <p:sp>
        <p:nvSpPr>
          <p:cNvPr id="52" name="Shape 50"/>
          <p:cNvSpPr/>
          <p:nvPr/>
        </p:nvSpPr>
        <p:spPr>
          <a:xfrm>
            <a:off x="4416552" y="4224528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53" name="Shape 51"/>
          <p:cNvSpPr/>
          <p:nvPr/>
        </p:nvSpPr>
        <p:spPr>
          <a:xfrm>
            <a:off x="4416552" y="4224528"/>
            <a:ext cx="73152" cy="10789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4" name="Shape 52"/>
          <p:cNvSpPr/>
          <p:nvPr/>
        </p:nvSpPr>
        <p:spPr>
          <a:xfrm>
            <a:off x="4599432" y="4425696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5" name="Text 53"/>
          <p:cNvSpPr/>
          <p:nvPr/>
        </p:nvSpPr>
        <p:spPr>
          <a:xfrm>
            <a:off x="4599432" y="4512564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8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129784" y="44074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Ver estadísticas</a:t>
            </a:r>
            <a:endParaRPr lang="en-US" sz="1210" dirty="0"/>
          </a:p>
        </p:txBody>
      </p:sp>
      <p:sp>
        <p:nvSpPr>
          <p:cNvPr id="57" name="Text 55"/>
          <p:cNvSpPr/>
          <p:nvPr/>
        </p:nvSpPr>
        <p:spPr>
          <a:xfrm>
            <a:off x="5129784" y="47914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Indicadores de la colección</a:t>
            </a:r>
            <a:endParaRPr lang="en-US" sz="870" dirty="0"/>
          </a:p>
        </p:txBody>
      </p:sp>
      <p:sp>
        <p:nvSpPr>
          <p:cNvPr id="58" name="Shape 56"/>
          <p:cNvSpPr/>
          <p:nvPr/>
        </p:nvSpPr>
        <p:spPr>
          <a:xfrm>
            <a:off x="8174736" y="4224528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59" name="Shape 57"/>
          <p:cNvSpPr/>
          <p:nvPr/>
        </p:nvSpPr>
        <p:spPr>
          <a:xfrm>
            <a:off x="8174736" y="4224528"/>
            <a:ext cx="73152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60" name="Shape 58"/>
          <p:cNvSpPr/>
          <p:nvPr/>
        </p:nvSpPr>
        <p:spPr>
          <a:xfrm>
            <a:off x="8357616" y="442569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61" name="Text 59"/>
          <p:cNvSpPr/>
          <p:nvPr/>
        </p:nvSpPr>
        <p:spPr>
          <a:xfrm>
            <a:off x="8357616" y="4512564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9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887968" y="44074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Analizar</a:t>
            </a:r>
            <a:endParaRPr lang="en-US" sz="1210" dirty="0"/>
          </a:p>
        </p:txBody>
      </p:sp>
      <p:sp>
        <p:nvSpPr>
          <p:cNvPr id="63" name="Text 61"/>
          <p:cNvSpPr/>
          <p:nvPr/>
        </p:nvSpPr>
        <p:spPr>
          <a:xfrm>
            <a:off x="8887968" y="47914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Confirmados, resúmenes y orden</a:t>
            </a:r>
            <a:endParaRPr lang="en-US" sz="870" dirty="0"/>
          </a:p>
        </p:txBody>
      </p:sp>
      <p:sp>
        <p:nvSpPr>
          <p:cNvPr id="64" name="Text 62"/>
          <p:cNvSpPr/>
          <p:nvPr/>
        </p:nvSpPr>
        <p:spPr>
          <a:xfrm>
            <a:off x="777240" y="5760720"/>
            <a:ext cx="10652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RECORRIDO DE DEMOSTRACIÓN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flujo que se mostrará en vivo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77240" y="1508760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1" name="Text 9"/>
          <p:cNvSpPr/>
          <p:nvPr/>
        </p:nvSpPr>
        <p:spPr>
          <a:xfrm>
            <a:off x="777240" y="158191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280160" y="15270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Crear agenda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777240" y="198424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Se inicia la colección y se define el deporte de especialización.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3813048" y="1709928"/>
            <a:ext cx="384048" cy="0"/>
          </a:xfrm>
          <a:prstGeom prst="line">
            <a:avLst/>
          </a:prstGeom>
          <a:noFill/>
          <a:ln w="13970">
            <a:solidFill>
              <a:srgbClr val="D8E2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471416" y="150876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471416" y="158191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974336" y="15270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Cargar eventos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4471416" y="198424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Se registran eventos con fecha, lugar, categoría y cupo.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7507224" y="1709928"/>
            <a:ext cx="384048" cy="0"/>
          </a:xfrm>
          <a:prstGeom prst="line">
            <a:avLst/>
          </a:prstGeom>
          <a:noFill/>
          <a:ln w="13970">
            <a:solidFill>
              <a:srgbClr val="D8E2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20" name="Shape 18"/>
          <p:cNvSpPr/>
          <p:nvPr/>
        </p:nvSpPr>
        <p:spPr>
          <a:xfrm>
            <a:off x="8165592" y="150876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1" name="Text 19"/>
          <p:cNvSpPr/>
          <p:nvPr/>
        </p:nvSpPr>
        <p:spPr>
          <a:xfrm>
            <a:off x="8165592" y="158191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668512" y="15270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Validar datos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8165592" y="198424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El sistema rechaza fecha inválida y vuelve a pedir el dato.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11201400" y="1709928"/>
            <a:ext cx="384048" cy="0"/>
          </a:xfrm>
          <a:prstGeom prst="line">
            <a:avLst/>
          </a:prstGeom>
          <a:noFill/>
          <a:ln w="13970">
            <a:solidFill>
              <a:srgbClr val="D8E2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25" name="Shape 23"/>
          <p:cNvSpPr/>
          <p:nvPr/>
        </p:nvSpPr>
        <p:spPr>
          <a:xfrm>
            <a:off x="777240" y="3474720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Text 24"/>
          <p:cNvSpPr/>
          <p:nvPr/>
        </p:nvSpPr>
        <p:spPr>
          <a:xfrm>
            <a:off x="777240" y="354787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280160" y="349300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Vender entradas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777240" y="395020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Se concreta la venta si hay disponibilidad suficiente.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3813048" y="3675888"/>
            <a:ext cx="384048" cy="0"/>
          </a:xfrm>
          <a:prstGeom prst="line">
            <a:avLst/>
          </a:prstGeom>
          <a:noFill/>
          <a:ln w="13970">
            <a:solidFill>
              <a:srgbClr val="D8E2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8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1" name="Text 29"/>
          <p:cNvSpPr/>
          <p:nvPr/>
        </p:nvSpPr>
        <p:spPr>
          <a:xfrm>
            <a:off x="4471416" y="354787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974336" y="349300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Rechazar sobreventa</a:t>
            </a:r>
            <a:endParaRPr lang="en-US" sz="1220" dirty="0"/>
          </a:p>
        </p:txBody>
      </p:sp>
      <p:sp>
        <p:nvSpPr>
          <p:cNvPr id="33" name="Text 31"/>
          <p:cNvSpPr/>
          <p:nvPr/>
        </p:nvSpPr>
        <p:spPr>
          <a:xfrm>
            <a:off x="4471416" y="395020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Si la cantidad supera el cupo disponible, la operación no avanza.</a:t>
            </a:r>
            <a:endParaRPr lang="en-US" sz="970" dirty="0"/>
          </a:p>
        </p:txBody>
      </p:sp>
      <p:sp>
        <p:nvSpPr>
          <p:cNvPr id="34" name="Shape 32"/>
          <p:cNvSpPr/>
          <p:nvPr/>
        </p:nvSpPr>
        <p:spPr>
          <a:xfrm>
            <a:off x="7507224" y="3675888"/>
            <a:ext cx="384048" cy="0"/>
          </a:xfrm>
          <a:prstGeom prst="line">
            <a:avLst/>
          </a:prstGeom>
          <a:noFill/>
          <a:ln w="13970">
            <a:solidFill>
              <a:srgbClr val="D8E2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35" name="Shape 33"/>
          <p:cNvSpPr/>
          <p:nvPr/>
        </p:nvSpPr>
        <p:spPr>
          <a:xfrm>
            <a:off x="8165592" y="347472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6" name="Text 34"/>
          <p:cNvSpPr/>
          <p:nvPr/>
        </p:nvSpPr>
        <p:spPr>
          <a:xfrm>
            <a:off x="8165592" y="354787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6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668512" y="349300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Ver estadísticas</a:t>
            </a:r>
            <a:endParaRPr lang="en-US" sz="1220" dirty="0"/>
          </a:p>
        </p:txBody>
      </p:sp>
      <p:sp>
        <p:nvSpPr>
          <p:cNvPr id="38" name="Text 36"/>
          <p:cNvSpPr/>
          <p:nvPr/>
        </p:nvSpPr>
        <p:spPr>
          <a:xfrm>
            <a:off x="8165592" y="395020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Se visualiza el estado de la agenda y el reglamento del deporte.</a:t>
            </a:r>
            <a:endParaRPr lang="en-US" sz="970" dirty="0"/>
          </a:p>
        </p:txBody>
      </p:sp>
      <p:sp>
        <p:nvSpPr>
          <p:cNvPr id="39" name="Shape 37"/>
          <p:cNvSpPr/>
          <p:nvPr/>
        </p:nvSpPr>
        <p:spPr>
          <a:xfrm>
            <a:off x="2907792" y="4572000"/>
            <a:ext cx="6355080" cy="1737360"/>
          </a:xfrm>
          <a:prstGeom prst="roundRect">
            <a:avLst>
              <a:gd name="adj" fmla="val 6400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40" name="Shape 38"/>
          <p:cNvSpPr/>
          <p:nvPr/>
        </p:nvSpPr>
        <p:spPr>
          <a:xfrm>
            <a:off x="2907792" y="4572000"/>
            <a:ext cx="635508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1" name="Shape 39"/>
          <p:cNvSpPr/>
          <p:nvPr/>
        </p:nvSpPr>
        <p:spPr>
          <a:xfrm>
            <a:off x="3054096" y="467258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2" name="Shape 40"/>
          <p:cNvSpPr/>
          <p:nvPr/>
        </p:nvSpPr>
        <p:spPr>
          <a:xfrm>
            <a:off x="3191256" y="467258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3" name="Shape 41"/>
          <p:cNvSpPr/>
          <p:nvPr/>
        </p:nvSpPr>
        <p:spPr>
          <a:xfrm>
            <a:off x="3328416" y="467258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4" name="Text 42"/>
          <p:cNvSpPr/>
          <p:nvPr/>
        </p:nvSpPr>
        <p:spPr>
          <a:xfrm>
            <a:off x="3547872" y="4658868"/>
            <a:ext cx="5577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Punto de partida del recorrido</a:t>
            </a:r>
            <a:endParaRPr lang="en-US" sz="680" dirty="0"/>
          </a:p>
        </p:txBody>
      </p:sp>
      <p:sp>
        <p:nvSpPr>
          <p:cNvPr id="46" name="Shape 43"/>
          <p:cNvSpPr/>
          <p:nvPr/>
        </p:nvSpPr>
        <p:spPr>
          <a:xfrm>
            <a:off x="2907792" y="4846320"/>
            <a:ext cx="635508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pic>
        <p:nvPicPr>
          <p:cNvPr id="47" name="Picture 46" descr="6_inicio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4892040"/>
            <a:ext cx="6318504" cy="1380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EL SISTEMA EN ACCIÓN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Menú principal y carga de eventos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07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" y="146304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40080" y="1463040"/>
            <a:ext cx="525780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Shape 10"/>
          <p:cNvSpPr/>
          <p:nvPr/>
        </p:nvSpPr>
        <p:spPr>
          <a:xfrm>
            <a:off x="786384" y="156362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3" name="Shape 11"/>
          <p:cNvSpPr/>
          <p:nvPr/>
        </p:nvSpPr>
        <p:spPr>
          <a:xfrm>
            <a:off x="923544" y="156362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4" name="Shape 12"/>
          <p:cNvSpPr/>
          <p:nvPr/>
        </p:nvSpPr>
        <p:spPr>
          <a:xfrm>
            <a:off x="1060704" y="156362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5" name="Text 13"/>
          <p:cNvSpPr/>
          <p:nvPr/>
        </p:nvSpPr>
        <p:spPr>
          <a:xfrm>
            <a:off x="1280160" y="1549908"/>
            <a:ext cx="4480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Menú principal</a:t>
            </a:r>
            <a:endParaRPr lang="en-US" sz="680" dirty="0"/>
          </a:p>
        </p:txBody>
      </p:sp>
      <p:sp>
        <p:nvSpPr>
          <p:cNvPr id="17" name="Shape 14"/>
          <p:cNvSpPr/>
          <p:nvPr/>
        </p:nvSpPr>
        <p:spPr>
          <a:xfrm>
            <a:off x="640080" y="1737360"/>
            <a:ext cx="525780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8" name="Shape 15"/>
          <p:cNvSpPr/>
          <p:nvPr/>
        </p:nvSpPr>
        <p:spPr>
          <a:xfrm>
            <a:off x="6236208" y="146304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6"/>
          <p:cNvSpPr/>
          <p:nvPr/>
        </p:nvSpPr>
        <p:spPr>
          <a:xfrm>
            <a:off x="6236208" y="1463040"/>
            <a:ext cx="73152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7"/>
          <p:cNvSpPr/>
          <p:nvPr/>
        </p:nvSpPr>
        <p:spPr>
          <a:xfrm>
            <a:off x="6464808" y="1627632"/>
            <a:ext cx="4919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Lo que se demuestra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464808" y="2029968"/>
            <a:ext cx="4919472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• El flujo inicia con una agenda y un deporte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• El menú guía al usuario paso a paso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• Las opciones agrupan alta, consulta, venta y reportes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• La interacción es simple y reproducible en la demo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236208" y="3749040"/>
            <a:ext cx="5303520" cy="1810512"/>
          </a:xfrm>
          <a:prstGeom prst="roundRect">
            <a:avLst>
              <a:gd name="adj" fmla="val 4040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Shape 20"/>
          <p:cNvSpPr/>
          <p:nvPr/>
        </p:nvSpPr>
        <p:spPr>
          <a:xfrm>
            <a:off x="6236208" y="3749040"/>
            <a:ext cx="530352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1"/>
          <p:cNvSpPr/>
          <p:nvPr/>
        </p:nvSpPr>
        <p:spPr>
          <a:xfrm>
            <a:off x="6382512" y="384962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5" name="Shape 22"/>
          <p:cNvSpPr/>
          <p:nvPr/>
        </p:nvSpPr>
        <p:spPr>
          <a:xfrm>
            <a:off x="6519672" y="384962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Shape 23"/>
          <p:cNvSpPr/>
          <p:nvPr/>
        </p:nvSpPr>
        <p:spPr>
          <a:xfrm>
            <a:off x="6656832" y="384962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7" name="Text 24"/>
          <p:cNvSpPr/>
          <p:nvPr/>
        </p:nvSpPr>
        <p:spPr>
          <a:xfrm>
            <a:off x="6876288" y="3835908"/>
            <a:ext cx="4526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Alta y validación</a:t>
            </a:r>
            <a:endParaRPr lang="en-US" sz="680" dirty="0"/>
          </a:p>
        </p:txBody>
      </p:sp>
      <p:sp>
        <p:nvSpPr>
          <p:cNvPr id="29" name="Shape 25"/>
          <p:cNvSpPr/>
          <p:nvPr/>
        </p:nvSpPr>
        <p:spPr>
          <a:xfrm>
            <a:off x="6236208" y="4023360"/>
            <a:ext cx="530352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pic>
        <p:nvPicPr>
          <p:cNvPr id="30" name="Picture 29" descr="7_mockup_menu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1783080"/>
            <a:ext cx="5221224" cy="3895344"/>
          </a:xfrm>
          <a:prstGeom prst="rect">
            <a:avLst/>
          </a:prstGeom>
        </p:spPr>
      </p:pic>
      <p:pic>
        <p:nvPicPr>
          <p:cNvPr id="31" name="Picture 30" descr="7_mockup_alta_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4069080"/>
            <a:ext cx="5266944" cy="14538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CONTROL DE CUPOS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Venta aceptada y sobreventa rechazada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08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481328"/>
            <a:ext cx="5623560" cy="3474720"/>
          </a:xfrm>
          <a:prstGeom prst="roundRect">
            <a:avLst>
              <a:gd name="adj" fmla="val 2105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731520" y="1481328"/>
            <a:ext cx="562356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Shape 10"/>
          <p:cNvSpPr/>
          <p:nvPr/>
        </p:nvSpPr>
        <p:spPr>
          <a:xfrm>
            <a:off x="877824" y="1581912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3" name="Shape 11"/>
          <p:cNvSpPr/>
          <p:nvPr/>
        </p:nvSpPr>
        <p:spPr>
          <a:xfrm>
            <a:off x="1014984" y="1581912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4" name="Shape 12"/>
          <p:cNvSpPr/>
          <p:nvPr/>
        </p:nvSpPr>
        <p:spPr>
          <a:xfrm>
            <a:off x="1152144" y="1581912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5" name="Text 13"/>
          <p:cNvSpPr/>
          <p:nvPr/>
        </p:nvSpPr>
        <p:spPr>
          <a:xfrm>
            <a:off x="1371600" y="1568196"/>
            <a:ext cx="4846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Venta de entradas</a:t>
            </a:r>
            <a:endParaRPr lang="en-US" sz="680" dirty="0"/>
          </a:p>
        </p:txBody>
      </p:sp>
      <p:sp>
        <p:nvSpPr>
          <p:cNvPr id="17" name="Shape 14"/>
          <p:cNvSpPr/>
          <p:nvPr/>
        </p:nvSpPr>
        <p:spPr>
          <a:xfrm>
            <a:off x="731520" y="1755648"/>
            <a:ext cx="562356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8" name="Shape 15"/>
          <p:cNvSpPr/>
          <p:nvPr/>
        </p:nvSpPr>
        <p:spPr>
          <a:xfrm>
            <a:off x="6784848" y="1481328"/>
            <a:ext cx="44805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6"/>
          <p:cNvSpPr/>
          <p:nvPr/>
        </p:nvSpPr>
        <p:spPr>
          <a:xfrm>
            <a:off x="6784848" y="1481328"/>
            <a:ext cx="73152" cy="1645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7"/>
          <p:cNvSpPr/>
          <p:nvPr/>
        </p:nvSpPr>
        <p:spPr>
          <a:xfrm>
            <a:off x="7013448" y="1645920"/>
            <a:ext cx="4096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Regla de negocio visible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013448" y="2048256"/>
            <a:ext cx="4096512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La operación de venta solo se confirma si hay lugares disponibles. Si la cantidad supera el cupo restante, el sistema informa el rechazo y conserva el estado.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347472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3" name="Text 20"/>
          <p:cNvSpPr/>
          <p:nvPr/>
        </p:nvSpPr>
        <p:spPr>
          <a:xfrm>
            <a:off x="6931152" y="3497580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✓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7205472" y="345643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Venta válida: 150 entradas aceptadas.</a:t>
            </a:r>
            <a:endParaRPr lang="en-US" sz="1020" dirty="0"/>
          </a:p>
        </p:txBody>
      </p:sp>
      <p:sp>
        <p:nvSpPr>
          <p:cNvPr id="25" name="Shape 22"/>
          <p:cNvSpPr/>
          <p:nvPr/>
        </p:nvSpPr>
        <p:spPr>
          <a:xfrm>
            <a:off x="6903720" y="3886200"/>
            <a:ext cx="182880" cy="182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Text 23"/>
          <p:cNvSpPr/>
          <p:nvPr/>
        </p:nvSpPr>
        <p:spPr>
          <a:xfrm>
            <a:off x="6931152" y="3909060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✓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7205472" y="386791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Disponibilidad actualizada: quedan 50 lugares.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6903720" y="4297680"/>
            <a:ext cx="182880" cy="1828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9" name="Text 26"/>
          <p:cNvSpPr/>
          <p:nvPr/>
        </p:nvSpPr>
        <p:spPr>
          <a:xfrm>
            <a:off x="6931152" y="4320540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✓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7205472" y="427939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Venta excedida: operación rechazada.</a:t>
            </a:r>
            <a:endParaRPr lang="en-US" sz="1020" dirty="0"/>
          </a:p>
        </p:txBody>
      </p:sp>
      <p:sp>
        <p:nvSpPr>
          <p:cNvPr id="31" name="Shape 28"/>
          <p:cNvSpPr/>
          <p:nvPr/>
        </p:nvSpPr>
        <p:spPr>
          <a:xfrm>
            <a:off x="6903720" y="470916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Text 29"/>
          <p:cNvSpPr/>
          <p:nvPr/>
        </p:nvSpPr>
        <p:spPr>
          <a:xfrm>
            <a:off x="6931152" y="4732020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✓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7205472" y="469087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El sistema no se rompe ante entradas inválidas.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914400" y="56692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35" name="Picture 34" descr="8_mockup_venta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801368"/>
            <a:ext cx="5586984" cy="31181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INDICADORES Y SEGUIMIENTO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agenda se transforma en información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09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481328"/>
            <a:ext cx="5394960" cy="3611880"/>
          </a:xfrm>
          <a:prstGeom prst="roundRect">
            <a:avLst>
              <a:gd name="adj" fmla="val 2025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731520" y="1481328"/>
            <a:ext cx="539496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Shape 10"/>
          <p:cNvSpPr/>
          <p:nvPr/>
        </p:nvSpPr>
        <p:spPr>
          <a:xfrm>
            <a:off x="877824" y="1581912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3" name="Shape 11"/>
          <p:cNvSpPr/>
          <p:nvPr/>
        </p:nvSpPr>
        <p:spPr>
          <a:xfrm>
            <a:off x="1014984" y="1581912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4" name="Shape 12"/>
          <p:cNvSpPr/>
          <p:nvPr/>
        </p:nvSpPr>
        <p:spPr>
          <a:xfrm>
            <a:off x="1152144" y="1581912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5" name="Text 13"/>
          <p:cNvSpPr/>
          <p:nvPr/>
        </p:nvSpPr>
        <p:spPr>
          <a:xfrm>
            <a:off x="1371600" y="1568196"/>
            <a:ext cx="4617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Estadísticas de la colección</a:t>
            </a:r>
            <a:endParaRPr lang="en-US" sz="680" dirty="0"/>
          </a:p>
        </p:txBody>
      </p:sp>
      <p:sp>
        <p:nvSpPr>
          <p:cNvPr id="17" name="Shape 14"/>
          <p:cNvSpPr/>
          <p:nvPr/>
        </p:nvSpPr>
        <p:spPr>
          <a:xfrm>
            <a:off x="731520" y="1755648"/>
            <a:ext cx="539496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8" name="Shape 15"/>
          <p:cNvSpPr/>
          <p:nvPr/>
        </p:nvSpPr>
        <p:spPr>
          <a:xfrm>
            <a:off x="6629400" y="16276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Text 16"/>
          <p:cNvSpPr/>
          <p:nvPr/>
        </p:nvSpPr>
        <p:spPr>
          <a:xfrm>
            <a:off x="6793992" y="17647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59669"/>
                </a:solidFill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766560" y="220370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Eventos totales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9098280" y="16276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2" name="Text 19"/>
          <p:cNvSpPr/>
          <p:nvPr/>
        </p:nvSpPr>
        <p:spPr>
          <a:xfrm>
            <a:off x="9262872" y="17647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</a:rPr>
              <a:t>1 / 1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35440" y="220370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Confirmado / pendiente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629400" y="29077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5" name="Text 22"/>
          <p:cNvSpPr/>
          <p:nvPr/>
        </p:nvSpPr>
        <p:spPr>
          <a:xfrm>
            <a:off x="6793992" y="3044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9E0B"/>
                </a:solidFill>
              </a:rPr>
              <a:t>150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766560" y="34838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Entradas vendidas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9098280" y="29077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8" name="Text 25"/>
          <p:cNvSpPr/>
          <p:nvPr/>
        </p:nvSpPr>
        <p:spPr>
          <a:xfrm>
            <a:off x="9262872" y="3044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</a:rPr>
              <a:t>54%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9235440" y="34838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Ocupación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629400" y="4315968"/>
            <a:ext cx="45262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1" name="Shape 28"/>
          <p:cNvSpPr/>
          <p:nvPr/>
        </p:nvSpPr>
        <p:spPr>
          <a:xfrm>
            <a:off x="6629400" y="4315968"/>
            <a:ext cx="73152" cy="10789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Text 29"/>
          <p:cNvSpPr/>
          <p:nvPr/>
        </p:nvSpPr>
        <p:spPr>
          <a:xfrm>
            <a:off x="6858000" y="4480560"/>
            <a:ext cx="4142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Información mostrada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6858000" y="4882896"/>
            <a:ext cx="414223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0F172A"/>
                </a:solidFill>
              </a:rPr>
              <a:t>Además de los totales, la salida incluye categorías presentes y reglamento del deporte de especialización.</a:t>
            </a:r>
            <a:endParaRPr lang="en-US" sz="1030" dirty="0"/>
          </a:p>
        </p:txBody>
      </p:sp>
      <p:pic>
        <p:nvPicPr>
          <p:cNvPr id="34" name="Picture 33" descr="9_mockup_stats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801368"/>
            <a:ext cx="5358384" cy="32552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CALIDAD DE DATOS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Validaciones que protegen el flujo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3383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58368" y="1417320"/>
            <a:ext cx="73152" cy="18745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886968" y="1581912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Formato de fecha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86968" y="1984248"/>
            <a:ext cx="2999232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Solo se aceptan fechas válidas en formato AAAA-MM-DD. Una fecha inexistente se rechaza y se vuelve a solicitar.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407408" y="1417320"/>
            <a:ext cx="3383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407408" y="1417320"/>
            <a:ext cx="73152" cy="1874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636008" y="1581912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Cupo positivo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636008" y="1984248"/>
            <a:ext cx="2999232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El cupo máximo debe ser mayor a cero para evitar eventos sin capacidad válida.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156448" y="1417320"/>
            <a:ext cx="3383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8156448" y="1417320"/>
            <a:ext cx="73152" cy="1874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8"/>
          <p:cNvSpPr/>
          <p:nvPr/>
        </p:nvSpPr>
        <p:spPr>
          <a:xfrm>
            <a:off x="8385048" y="1581912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Venta segura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85048" y="1984248"/>
            <a:ext cx="2999232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La venta de entradas no puede superar los lugares disponibles. La sobreventa queda bloqueada.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768096" y="3730752"/>
            <a:ext cx="4800600" cy="1645920"/>
          </a:xfrm>
          <a:prstGeom prst="roundRect">
            <a:avLst>
              <a:gd name="adj" fmla="val 4444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Shape 21"/>
          <p:cNvSpPr/>
          <p:nvPr/>
        </p:nvSpPr>
        <p:spPr>
          <a:xfrm>
            <a:off x="768096" y="3730752"/>
            <a:ext cx="480060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2"/>
          <p:cNvSpPr/>
          <p:nvPr/>
        </p:nvSpPr>
        <p:spPr>
          <a:xfrm>
            <a:off x="914400" y="3831336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5" name="Shape 23"/>
          <p:cNvSpPr/>
          <p:nvPr/>
        </p:nvSpPr>
        <p:spPr>
          <a:xfrm>
            <a:off x="1051560" y="3831336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Shape 24"/>
          <p:cNvSpPr/>
          <p:nvPr/>
        </p:nvSpPr>
        <p:spPr>
          <a:xfrm>
            <a:off x="1188720" y="3831336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7" name="Text 25"/>
          <p:cNvSpPr/>
          <p:nvPr/>
        </p:nvSpPr>
        <p:spPr>
          <a:xfrm>
            <a:off x="1408176" y="3817620"/>
            <a:ext cx="4023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Rechazo de fecha inválida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>
            <a:off x="768096" y="4005072"/>
            <a:ext cx="480060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7"/>
          <p:cNvSpPr/>
          <p:nvPr/>
        </p:nvSpPr>
        <p:spPr>
          <a:xfrm>
            <a:off x="6080760" y="3730752"/>
            <a:ext cx="4800600" cy="1645920"/>
          </a:xfrm>
          <a:prstGeom prst="roundRect">
            <a:avLst>
              <a:gd name="adj" fmla="val 4444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1" name="Shape 28"/>
          <p:cNvSpPr/>
          <p:nvPr/>
        </p:nvSpPr>
        <p:spPr>
          <a:xfrm>
            <a:off x="6080760" y="3730752"/>
            <a:ext cx="480060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Shape 29"/>
          <p:cNvSpPr/>
          <p:nvPr/>
        </p:nvSpPr>
        <p:spPr>
          <a:xfrm>
            <a:off x="6227064" y="3831336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3" name="Shape 30"/>
          <p:cNvSpPr/>
          <p:nvPr/>
        </p:nvSpPr>
        <p:spPr>
          <a:xfrm>
            <a:off x="6364224" y="3831336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4" name="Shape 31"/>
          <p:cNvSpPr/>
          <p:nvPr/>
        </p:nvSpPr>
        <p:spPr>
          <a:xfrm>
            <a:off x="6501384" y="3831336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5" name="Text 32"/>
          <p:cNvSpPr/>
          <p:nvPr/>
        </p:nvSpPr>
        <p:spPr>
          <a:xfrm>
            <a:off x="6720840" y="3817620"/>
            <a:ext cx="4023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Rechazo de venta excedida</a:t>
            </a:r>
            <a:endParaRPr lang="en-US" sz="680" dirty="0"/>
          </a:p>
        </p:txBody>
      </p:sp>
      <p:sp>
        <p:nvSpPr>
          <p:cNvPr id="37" name="Shape 33"/>
          <p:cNvSpPr/>
          <p:nvPr/>
        </p:nvSpPr>
        <p:spPr>
          <a:xfrm>
            <a:off x="6080760" y="4005072"/>
            <a:ext cx="4800600" cy="27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8" name="Text 34"/>
          <p:cNvSpPr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39" name="Picture 38" descr="10_mockup_alta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050792"/>
            <a:ext cx="4764024" cy="1289304"/>
          </a:xfrm>
          <a:prstGeom prst="rect">
            <a:avLst/>
          </a:prstGeom>
        </p:spPr>
      </p:pic>
      <p:pic>
        <p:nvPicPr>
          <p:cNvPr id="40" name="Picture 39" descr="10_mockup_venta_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9048" y="4050792"/>
            <a:ext cx="4764024" cy="12893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CONSTRUCCIÓN A ALTO NIVEL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Cómo</a:t>
            </a: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está organizado para crecer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11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1444752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73152" cy="1508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886968" y="1609344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Interfaz de consola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86968" y="2011680"/>
            <a:ext cx="286207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Capa de interacción: muestra el menú, pide datos y presenta los resultados al usuario.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471416" y="1444752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471416" y="1444752"/>
            <a:ext cx="73152" cy="1508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700016" y="1609344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Motor de gestión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00016" y="2011680"/>
            <a:ext cx="286207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Capa central: administra eventos, cupos, estados, ventas y estadísticas.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284464" y="1444752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8284464" y="1444752"/>
            <a:ext cx="73152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8"/>
          <p:cNvSpPr/>
          <p:nvPr/>
        </p:nvSpPr>
        <p:spPr>
          <a:xfrm>
            <a:off x="8513064" y="1609344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Especialización deportiva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13064" y="2011680"/>
            <a:ext cx="286207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Capa adaptable: agrega reglamento del deporte y permite extender el dominio.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4014216" y="2212848"/>
            <a:ext cx="347472" cy="0"/>
          </a:xfrm>
          <a:prstGeom prst="line">
            <a:avLst/>
          </a:prstGeom>
          <a:noFill/>
          <a:ln w="17780">
            <a:solidFill>
              <a:srgbClr val="D8E2EE"/>
            </a:solidFill>
            <a:prstDash val="solid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23" name="Shape 21"/>
          <p:cNvSpPr/>
          <p:nvPr/>
        </p:nvSpPr>
        <p:spPr>
          <a:xfrm>
            <a:off x="7827264" y="2212848"/>
            <a:ext cx="347472" cy="0"/>
          </a:xfrm>
          <a:prstGeom prst="line">
            <a:avLst/>
          </a:prstGeom>
          <a:noFill/>
          <a:ln w="17780">
            <a:solidFill>
              <a:srgbClr val="D8E2EE"/>
            </a:solidFill>
            <a:prstDash val="solid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2"/>
          <p:cNvSpPr/>
          <p:nvPr/>
        </p:nvSpPr>
        <p:spPr>
          <a:xfrm>
            <a:off x="1005840" y="370332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0E1726"/>
          </a:solidFill>
          <a:ln w="12700">
            <a:solidFill>
              <a:srgbClr val="0E1726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5" name="Shape 23"/>
          <p:cNvSpPr/>
          <p:nvPr/>
        </p:nvSpPr>
        <p:spPr>
          <a:xfrm>
            <a:off x="1005840" y="3703320"/>
            <a:ext cx="73152" cy="17830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Text 24"/>
          <p:cNvSpPr/>
          <p:nvPr/>
        </p:nvSpPr>
        <p:spPr>
          <a:xfrm>
            <a:off x="1234440" y="3867912"/>
            <a:ext cx="46908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Preparado para evolucionar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234440" y="4270248"/>
            <a:ext cx="4690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DDE7F0"/>
                </a:solidFill>
              </a:rPr>
              <a:t>• Se puede reemplazar la consola por interfaz gráfica o web</a:t>
            </a:r>
            <a:endParaRPr lang="en-US" sz="1010" dirty="0"/>
          </a:p>
          <a:p>
            <a:pPr marL="0" indent="0">
              <a:buNone/>
            </a:pPr>
            <a:r>
              <a:rPr lang="en-US" sz="1010" dirty="0">
                <a:solidFill>
                  <a:srgbClr val="DDE7F0"/>
                </a:solidFill>
              </a:rPr>
              <a:t>• Se pueden sumar deportes sin rehacer el flujo principal</a:t>
            </a:r>
            <a:endParaRPr lang="en-US" sz="1010" dirty="0"/>
          </a:p>
          <a:p>
            <a:pPr marL="0" indent="0">
              <a:buNone/>
            </a:pPr>
            <a:r>
              <a:rPr lang="en-US" sz="1010" dirty="0">
                <a:solidFill>
                  <a:srgbClr val="DDE7F0"/>
                </a:solidFill>
              </a:rPr>
              <a:t>• La lógica se mantiene separada de la presentación</a:t>
            </a:r>
            <a:endParaRPr lang="en-US" sz="1010" dirty="0"/>
          </a:p>
          <a:p>
            <a:pPr marL="0" indent="0">
              <a:buNone/>
            </a:pPr>
            <a:r>
              <a:rPr lang="en-US" sz="1010" dirty="0">
                <a:solidFill>
                  <a:srgbClr val="DDE7F0"/>
                </a:solidFill>
              </a:rPr>
              <a:t>• El módulo de análisis permite ordenar y resumir información</a:t>
            </a:r>
            <a:endParaRPr lang="en-US" sz="1010" dirty="0"/>
          </a:p>
        </p:txBody>
      </p:sp>
      <p:sp>
        <p:nvSpPr>
          <p:cNvPr id="28" name="Shape 26"/>
          <p:cNvSpPr/>
          <p:nvPr/>
        </p:nvSpPr>
        <p:spPr>
          <a:xfrm>
            <a:off x="6446520" y="3703320"/>
            <a:ext cx="4480560" cy="1783080"/>
          </a:xfrm>
          <a:prstGeom prst="roundRect">
            <a:avLst>
              <a:gd name="adj" fmla="val 4103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9" name="Shape 27"/>
          <p:cNvSpPr/>
          <p:nvPr/>
        </p:nvSpPr>
        <p:spPr>
          <a:xfrm>
            <a:off x="6446520" y="3703320"/>
            <a:ext cx="448056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8"/>
          <p:cNvSpPr/>
          <p:nvPr/>
        </p:nvSpPr>
        <p:spPr>
          <a:xfrm>
            <a:off x="6592824" y="380390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1" name="Shape 29"/>
          <p:cNvSpPr/>
          <p:nvPr/>
        </p:nvSpPr>
        <p:spPr>
          <a:xfrm>
            <a:off x="6729984" y="380390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Shape 30"/>
          <p:cNvSpPr/>
          <p:nvPr/>
        </p:nvSpPr>
        <p:spPr>
          <a:xfrm>
            <a:off x="6867144" y="380390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3" name="Text 31"/>
          <p:cNvSpPr/>
          <p:nvPr/>
        </p:nvSpPr>
        <p:spPr>
          <a:xfrm>
            <a:off x="7086600" y="3790188"/>
            <a:ext cx="3703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Módulo de análisis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6446520" y="3977640"/>
            <a:ext cx="448056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pic>
        <p:nvPicPr>
          <p:cNvPr id="36" name="Picture 35" descr="11_mockup_funcional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4023360"/>
            <a:ext cx="4443984" cy="14264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7315200" cy="228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047857"/>
                </a:solidFill>
                <a:latin typeface="Segoe UI"/>
              </a:rPr>
              <a:t>DISEÑO DE CLASES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1069848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0B1220"/>
                </a:solidFill>
                <a:latin typeface="Segoe UI Semibold"/>
              </a:rPr>
              <a:t>El modelo del sistema (UML)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179576"/>
            <a:ext cx="1106424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8229600" cy="1828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Sistema de Gestión de Eventos · Paradigmas de la Programación · FP-UNA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92256" y="6492240"/>
            <a:ext cx="548640" cy="201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" y="1307592"/>
            <a:ext cx="3211339" cy="497433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417320"/>
            <a:ext cx="45720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0B1220"/>
                </a:solidFill>
                <a:latin typeface="Segoe UI Semibold"/>
              </a:rPr>
              <a:t>Cómo leer el diagrama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1965960"/>
            <a:ext cx="45720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40880" y="1965960"/>
            <a:ext cx="73152" cy="1143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2093976"/>
            <a:ext cx="41605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 Semibold"/>
              </a:rPr>
              <a:t>Herencia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468880"/>
            <a:ext cx="4160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Segoe UI"/>
              </a:rPr>
              <a:t>EventoDeportivo ES una AgendaEventos especializada (triángulo hueco).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291839"/>
            <a:ext cx="45720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0" y="3291839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3419856"/>
            <a:ext cx="41605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 Semibold"/>
              </a:rPr>
              <a:t>Composición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794759"/>
            <a:ext cx="4160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Segoe UI"/>
              </a:rPr>
              <a:t>La agenda contiene de 0 a muchos Evento (rombo relleno, multiplicidad 0..*).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4617720"/>
            <a:ext cx="45720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4617720"/>
            <a:ext cx="73152" cy="1143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745736"/>
            <a:ext cx="41605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 Semibold"/>
              </a:rPr>
              <a:t>Validación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5120640"/>
            <a:ext cx="4160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Segoe UI"/>
              </a:rPr>
              <a:t>Atributos sensibles protegidos con properties (fecha, cupo, ventas).</a:t>
            </a:r>
          </a:p>
        </p:txBody>
      </p:sp>
      <p:pic>
        <p:nvPicPr>
          <p:cNvPr id="25" name="Picture 24" descr="diagrama_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417320"/>
            <a:ext cx="299188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594360" y="1143000"/>
            <a:ext cx="137160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Text 2"/>
          <p:cNvSpPr/>
          <p:nvPr/>
        </p:nvSpPr>
        <p:spPr>
          <a:xfrm>
            <a:off x="594360" y="15361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¡Gracias!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21792" y="254203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D7E3F0"/>
                </a:solidFill>
              </a:rPr>
              <a:t>Un sistema que centraliza, valida y analiza tus eventos.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1792" y="3246120"/>
            <a:ext cx="6537960" cy="0"/>
          </a:xfrm>
          <a:prstGeom prst="line">
            <a:avLst/>
          </a:prstGeom>
          <a:noFill/>
          <a:ln w="12700">
            <a:solidFill>
              <a:srgbClr val="26415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0B981"/>
                </a:solidFill>
              </a:rPr>
              <a:t>¿Preguntas?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618134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F3D0"/>
                </a:solidFill>
              </a:rPr>
              <a:t>Grupo 15 · Elías González · Enzo Domínguez · Nicolás Bareiro · FP-UNA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452360" y="1325880"/>
            <a:ext cx="4069080" cy="2331720"/>
          </a:xfrm>
          <a:prstGeom prst="roundRect">
            <a:avLst>
              <a:gd name="adj" fmla="val 3137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0" name="Shape 8"/>
          <p:cNvSpPr/>
          <p:nvPr/>
        </p:nvSpPr>
        <p:spPr>
          <a:xfrm>
            <a:off x="7452360" y="1325880"/>
            <a:ext cx="406908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7598664" y="142646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Shape 10"/>
          <p:cNvSpPr/>
          <p:nvPr/>
        </p:nvSpPr>
        <p:spPr>
          <a:xfrm>
            <a:off x="7735824" y="142646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3" name="Shape 11"/>
          <p:cNvSpPr/>
          <p:nvPr/>
        </p:nvSpPr>
        <p:spPr>
          <a:xfrm>
            <a:off x="7872984" y="142646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4" name="Text 12"/>
          <p:cNvSpPr/>
          <p:nvPr/>
        </p:nvSpPr>
        <p:spPr>
          <a:xfrm>
            <a:off x="8092440" y="1412748"/>
            <a:ext cx="3291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Consulta por categoría</a:t>
            </a:r>
            <a:endParaRPr lang="en-US" sz="680" dirty="0"/>
          </a:p>
        </p:txBody>
      </p:sp>
      <p:sp>
        <p:nvSpPr>
          <p:cNvPr id="16" name="Shape 13"/>
          <p:cNvSpPr/>
          <p:nvPr/>
        </p:nvSpPr>
        <p:spPr>
          <a:xfrm>
            <a:off x="7452360" y="1600200"/>
            <a:ext cx="406908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7" name="Shape 14"/>
          <p:cNvSpPr/>
          <p:nvPr/>
        </p:nvSpPr>
        <p:spPr>
          <a:xfrm>
            <a:off x="7452360" y="3977640"/>
            <a:ext cx="4069080" cy="1234440"/>
          </a:xfrm>
          <a:prstGeom prst="roundRect">
            <a:avLst>
              <a:gd name="adj" fmla="val 5926"/>
            </a:avLst>
          </a:prstGeom>
          <a:solidFill>
            <a:srgbClr val="0E1726"/>
          </a:solidFill>
          <a:ln w="12700">
            <a:solidFill>
              <a:srgbClr val="0E1726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8" name="Shape 15"/>
          <p:cNvSpPr/>
          <p:nvPr/>
        </p:nvSpPr>
        <p:spPr>
          <a:xfrm>
            <a:off x="7452360" y="3977640"/>
            <a:ext cx="73152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9" name="Text 16"/>
          <p:cNvSpPr/>
          <p:nvPr/>
        </p:nvSpPr>
        <p:spPr>
          <a:xfrm>
            <a:off x="7680960" y="4142232"/>
            <a:ext cx="3685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Cierre de valor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680960" y="4544568"/>
            <a:ext cx="368503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DDE7F0"/>
                </a:solidFill>
              </a:rPr>
              <a:t>La solución demuestra un flujo completo: registrar, validar, vender, consultar y analizar eventos con reglas claras.</a:t>
            </a:r>
            <a:endParaRPr lang="en-US" sz="1070" dirty="0"/>
          </a:p>
        </p:txBody>
      </p:sp>
      <p:pic>
        <p:nvPicPr>
          <p:cNvPr id="21" name="Picture 20" descr="12_mockup_filtrar_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48" y="1645920"/>
            <a:ext cx="4032504" cy="19751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1063</Words>
  <Application>Microsoft Office PowerPoint</Application>
  <PresentationFormat>Panorámica</PresentationFormat>
  <Paragraphs>195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 Display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FP-UNA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Gestión de Eventos</dc:title>
  <dc:subject>Defensa oral - Proyecto Final Grupo 15</dc:subject>
  <dc:creator>Microsoft Copilot</dc:creator>
  <cp:lastModifiedBy>Enzo Dominguez</cp:lastModifiedBy>
  <cp:revision>3</cp:revision>
  <dcterms:created xsi:type="dcterms:W3CDTF">2026-06-30T19:09:01Z</dcterms:created>
  <dcterms:modified xsi:type="dcterms:W3CDTF">2026-06-30T19:23:47Z</dcterms:modified>
</cp:coreProperties>
</file>