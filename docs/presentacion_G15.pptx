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9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2" d="100"/>
          <a:sy n="122" d="100"/>
        </p:scale>
        <p:origin x="114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D9238C-AD92-4E3B-AD1D-4D261664491A}" type="datetimeFigureOut">
              <a:t>30/6/2026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7C6739-74F5-4816-8AB4-DDD51FD12368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5504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Relationship Id="rId4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11F"/>
          </a:solidFill>
          <a:ln w="12700">
            <a:solidFill>
              <a:srgbClr val="06111F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" name="Shape 1"/>
          <p:cNvSpPr/>
          <p:nvPr/>
        </p:nvSpPr>
        <p:spPr>
          <a:xfrm>
            <a:off x="7543800" y="-1097280"/>
            <a:ext cx="4343400" cy="4343400"/>
          </a:xfrm>
          <a:prstGeom prst="arc">
            <a:avLst/>
          </a:prstGeom>
          <a:noFill/>
          <a:ln w="12700">
            <a:solidFill>
              <a:srgbClr val="14324A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4" name="Shape 2"/>
          <p:cNvSpPr/>
          <p:nvPr/>
        </p:nvSpPr>
        <p:spPr>
          <a:xfrm>
            <a:off x="8549640" y="182880"/>
            <a:ext cx="3291840" cy="3291840"/>
          </a:xfrm>
          <a:prstGeom prst="ellipse">
            <a:avLst/>
          </a:prstGeom>
          <a:solidFill>
            <a:srgbClr val="10233D">
              <a:alpha val="95000"/>
            </a:srgbClr>
          </a:solidFill>
          <a:ln w="12700">
            <a:solidFill>
              <a:srgbClr val="10233D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5" name="Shape 3"/>
          <p:cNvSpPr/>
          <p:nvPr/>
        </p:nvSpPr>
        <p:spPr>
          <a:xfrm>
            <a:off x="594360" y="621792"/>
            <a:ext cx="1371600" cy="7315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6" name="Text 4"/>
          <p:cNvSpPr/>
          <p:nvPr/>
        </p:nvSpPr>
        <p:spPr>
          <a:xfrm>
            <a:off x="594360" y="86868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0B981"/>
                </a:solidFill>
              </a:rPr>
              <a:t>PROYECTO FINAL · GRUPO 15</a:t>
            </a:r>
            <a:endParaRPr lang="en-US" sz="920" dirty="0"/>
          </a:p>
        </p:txBody>
      </p:sp>
      <p:sp>
        <p:nvSpPr>
          <p:cNvPr id="7" name="Text 5"/>
          <p:cNvSpPr/>
          <p:nvPr/>
        </p:nvSpPr>
        <p:spPr>
          <a:xfrm>
            <a:off x="594360" y="1234440"/>
            <a:ext cx="5760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700" b="1" dirty="0">
                <a:solidFill>
                  <a:srgbClr val="FFFFFF"/>
                </a:solidFill>
              </a:rPr>
              <a:t>Sistema de Gestión</a:t>
            </a:r>
            <a:endParaRPr lang="en-US" sz="3700" dirty="0"/>
          </a:p>
          <a:p>
            <a:pPr marL="0" indent="0">
              <a:buNone/>
            </a:pPr>
            <a:r>
              <a:rPr lang="en-US" sz="3700" b="1" dirty="0">
                <a:solidFill>
                  <a:srgbClr val="FFFFFF"/>
                </a:solidFill>
              </a:rPr>
              <a:t>de Eventos</a:t>
            </a:r>
            <a:endParaRPr lang="en-US" sz="3700" dirty="0"/>
          </a:p>
        </p:txBody>
      </p:sp>
      <p:sp>
        <p:nvSpPr>
          <p:cNvPr id="8" name="Text 6"/>
          <p:cNvSpPr/>
          <p:nvPr/>
        </p:nvSpPr>
        <p:spPr>
          <a:xfrm>
            <a:off x="621792" y="2944368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D7E3F0"/>
                </a:solidFill>
              </a:rPr>
              <a:t>Demo de producto para una aplicación de consola que centraliza eventos, valida datos y muestra información operativa.</a:t>
            </a:r>
            <a:endParaRPr lang="en-US" sz="1320" dirty="0"/>
          </a:p>
        </p:txBody>
      </p:sp>
      <p:sp>
        <p:nvSpPr>
          <p:cNvPr id="9" name="Shape 7"/>
          <p:cNvSpPr/>
          <p:nvPr/>
        </p:nvSpPr>
        <p:spPr>
          <a:xfrm>
            <a:off x="621792" y="3822192"/>
            <a:ext cx="1508760" cy="320040"/>
          </a:xfrm>
          <a:prstGeom prst="roundRect">
            <a:avLst>
              <a:gd name="adj" fmla="val 22857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0" name="Text 8"/>
          <p:cNvSpPr/>
          <p:nvPr/>
        </p:nvSpPr>
        <p:spPr>
          <a:xfrm>
            <a:off x="713232" y="3904488"/>
            <a:ext cx="1325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Elías González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2286000" y="3822192"/>
            <a:ext cx="1609344" cy="320040"/>
          </a:xfrm>
          <a:prstGeom prst="roundRect">
            <a:avLst>
              <a:gd name="adj" fmla="val 22857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2" name="Text 10"/>
          <p:cNvSpPr/>
          <p:nvPr/>
        </p:nvSpPr>
        <p:spPr>
          <a:xfrm>
            <a:off x="2377440" y="3904488"/>
            <a:ext cx="14264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Enzo Domínguez</a:t>
            </a:r>
            <a:endParaRPr lang="en-US" sz="820" dirty="0"/>
          </a:p>
        </p:txBody>
      </p:sp>
      <p:sp>
        <p:nvSpPr>
          <p:cNvPr id="13" name="Shape 11"/>
          <p:cNvSpPr/>
          <p:nvPr/>
        </p:nvSpPr>
        <p:spPr>
          <a:xfrm>
            <a:off x="4050792" y="3822192"/>
            <a:ext cx="1627632" cy="320040"/>
          </a:xfrm>
          <a:prstGeom prst="roundRect">
            <a:avLst>
              <a:gd name="adj" fmla="val 22857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4" name="Text 12"/>
          <p:cNvSpPr/>
          <p:nvPr/>
        </p:nvSpPr>
        <p:spPr>
          <a:xfrm>
            <a:off x="4142232" y="3904488"/>
            <a:ext cx="1444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Nicolás Bareiro</a:t>
            </a:r>
            <a:endParaRPr lang="en-US" sz="820" dirty="0"/>
          </a:p>
        </p:txBody>
      </p:sp>
      <p:sp>
        <p:nvSpPr>
          <p:cNvPr id="15" name="Text 13"/>
          <p:cNvSpPr/>
          <p:nvPr/>
        </p:nvSpPr>
        <p:spPr>
          <a:xfrm>
            <a:off x="621792" y="6236208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dirty="0">
                <a:solidFill>
                  <a:srgbClr val="A7F3D0"/>
                </a:solidFill>
              </a:rPr>
              <a:t>Paradigmas de la Programación · FP-UNA · 2026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6720840" y="1417320"/>
            <a:ext cx="4663440" cy="3246120"/>
          </a:xfrm>
          <a:prstGeom prst="roundRect">
            <a:avLst>
              <a:gd name="adj" fmla="val 2254"/>
            </a:avLst>
          </a:prstGeom>
          <a:solidFill>
            <a:srgbClr val="0E1726"/>
          </a:solidFill>
          <a:ln w="12700">
            <a:solidFill>
              <a:srgbClr val="162033"/>
            </a:solidFill>
            <a:prstDash val="solid"/>
          </a:ln>
          <a:effectLst>
            <a:outerShdw blurRad="15240" dist="11430" dir="2700000" algn="bl" rotWithShape="0">
              <a:srgbClr val="000000">
                <a:alpha val="24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7" name="Shape 15"/>
          <p:cNvSpPr/>
          <p:nvPr/>
        </p:nvSpPr>
        <p:spPr>
          <a:xfrm>
            <a:off x="6720840" y="1417320"/>
            <a:ext cx="4663440" cy="292608"/>
          </a:xfrm>
          <a:prstGeom prst="rect">
            <a:avLst/>
          </a:prstGeom>
          <a:solidFill>
            <a:srgbClr val="0A1020"/>
          </a:solidFill>
          <a:ln w="12700">
            <a:solidFill>
              <a:srgbClr val="0A1020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8" name="Shape 16"/>
          <p:cNvSpPr/>
          <p:nvPr/>
        </p:nvSpPr>
        <p:spPr>
          <a:xfrm>
            <a:off x="6867144" y="1517904"/>
            <a:ext cx="73152" cy="73152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9" name="Shape 17"/>
          <p:cNvSpPr/>
          <p:nvPr/>
        </p:nvSpPr>
        <p:spPr>
          <a:xfrm>
            <a:off x="7004304" y="1517904"/>
            <a:ext cx="73152" cy="7315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0" name="Shape 18"/>
          <p:cNvSpPr/>
          <p:nvPr/>
        </p:nvSpPr>
        <p:spPr>
          <a:xfrm>
            <a:off x="7141464" y="1517904"/>
            <a:ext cx="73152" cy="73152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1" name="Text 19"/>
          <p:cNvSpPr/>
          <p:nvPr/>
        </p:nvSpPr>
        <p:spPr>
          <a:xfrm>
            <a:off x="7360920" y="1504188"/>
            <a:ext cx="3886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94A3B8"/>
                </a:solidFill>
              </a:rPr>
              <a:t>Vista del sistema en consola</a:t>
            </a:r>
            <a:endParaRPr lang="en-US" sz="680" dirty="0"/>
          </a:p>
        </p:txBody>
      </p:sp>
      <p:sp>
        <p:nvSpPr>
          <p:cNvPr id="23" name="Shape 20"/>
          <p:cNvSpPr/>
          <p:nvPr/>
        </p:nvSpPr>
        <p:spPr>
          <a:xfrm>
            <a:off x="6720840" y="1691640"/>
            <a:ext cx="4663440" cy="2743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pic>
        <p:nvPicPr>
          <p:cNvPr id="24" name="Picture 23" descr="1_mockup_menu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9128" y="1737360"/>
            <a:ext cx="4626864" cy="28895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 w="12700">
            <a:solidFill>
              <a:srgbClr val="F7FAFC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4" name="Shap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6111F"/>
          </a:solidFill>
          <a:ln w="12700">
            <a:solidFill>
              <a:srgbClr val="06111F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5" name="Text 3"/>
          <p:cNvSpPr/>
          <p:nvPr/>
        </p:nvSpPr>
        <p:spPr>
          <a:xfrm>
            <a:off x="566928" y="32004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059669"/>
                </a:solidFill>
              </a:rPr>
              <a:t>RESUMEN EJECUTIVO</a:t>
            </a:r>
            <a:endParaRPr lang="en-US" sz="820" dirty="0"/>
          </a:p>
        </p:txBody>
      </p:sp>
      <p:sp>
        <p:nvSpPr>
          <p:cNvPr id="6" name="Text 4"/>
          <p:cNvSpPr/>
          <p:nvPr/>
        </p:nvSpPr>
        <p:spPr>
          <a:xfrm>
            <a:off x="566928" y="585216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entregamos y por qué importa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66928" y="1179576"/>
            <a:ext cx="11064240" cy="0"/>
          </a:xfrm>
          <a:prstGeom prst="line">
            <a:avLst/>
          </a:prstGeom>
          <a:noFill/>
          <a:ln w="12700">
            <a:solidFill>
              <a:srgbClr val="D8E2EE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8" name="Text 6"/>
          <p:cNvSpPr/>
          <p:nvPr/>
        </p:nvSpPr>
        <p:spPr>
          <a:xfrm>
            <a:off x="566928" y="6528816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4748B"/>
                </a:solidFill>
              </a:rPr>
              <a:t>Sistema de Gestión de Eventos · Paradigmas de la Programación · FP-UNA 2026</a:t>
            </a:r>
            <a:endParaRPr lang="en-US" sz="720" dirty="0"/>
          </a:p>
        </p:txBody>
      </p:sp>
      <p:sp>
        <p:nvSpPr>
          <p:cNvPr id="9" name="Text 7"/>
          <p:cNvSpPr/>
          <p:nvPr/>
        </p:nvSpPr>
        <p:spPr>
          <a:xfrm>
            <a:off x="11192256" y="64922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02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40080" y="1481328"/>
            <a:ext cx="32461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2700" dist="889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1" name="Shape 9"/>
          <p:cNvSpPr/>
          <p:nvPr/>
        </p:nvSpPr>
        <p:spPr>
          <a:xfrm>
            <a:off x="640080" y="1481328"/>
            <a:ext cx="73152" cy="19659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2" name="Text 10"/>
          <p:cNvSpPr/>
          <p:nvPr/>
        </p:nvSpPr>
        <p:spPr>
          <a:xfrm>
            <a:off x="868680" y="1645920"/>
            <a:ext cx="28620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Producto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68680" y="2048256"/>
            <a:ext cx="2862072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Una aplicación de consola para administrar una agenda de eventos especializada por deporte.</a:t>
            </a:r>
            <a:endParaRPr lang="en-US" sz="1020" dirty="0"/>
          </a:p>
        </p:txBody>
      </p:sp>
      <p:sp>
        <p:nvSpPr>
          <p:cNvPr id="14" name="Shape 12"/>
          <p:cNvSpPr/>
          <p:nvPr/>
        </p:nvSpPr>
        <p:spPr>
          <a:xfrm>
            <a:off x="4498848" y="1481328"/>
            <a:ext cx="32461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2700" dist="889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5" name="Shape 13"/>
          <p:cNvSpPr/>
          <p:nvPr/>
        </p:nvSpPr>
        <p:spPr>
          <a:xfrm>
            <a:off x="4498848" y="1481328"/>
            <a:ext cx="73152" cy="19659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6" name="Text 14"/>
          <p:cNvSpPr/>
          <p:nvPr/>
        </p:nvSpPr>
        <p:spPr>
          <a:xfrm>
            <a:off x="4727448" y="1645920"/>
            <a:ext cx="28620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Valor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727448" y="2048256"/>
            <a:ext cx="2862072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Controla cupos, evita sobreventa, guía la carga de datos y ofrece indicadores de seguimiento.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8357616" y="1481328"/>
            <a:ext cx="32461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2700" dist="889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9" name="Shape 17"/>
          <p:cNvSpPr/>
          <p:nvPr/>
        </p:nvSpPr>
        <p:spPr>
          <a:xfrm>
            <a:off x="8357616" y="1481328"/>
            <a:ext cx="73152" cy="19659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0" name="Text 18"/>
          <p:cNvSpPr/>
          <p:nvPr/>
        </p:nvSpPr>
        <p:spPr>
          <a:xfrm>
            <a:off x="8586216" y="1645920"/>
            <a:ext cx="28620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Demostración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86216" y="2048256"/>
            <a:ext cx="2862072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La defensa se apoya en una demo en vivo: alta, validación, venta de entradas y estadísticas.</a:t>
            </a:r>
            <a:endParaRPr lang="en-US" sz="1020" dirty="0"/>
          </a:p>
        </p:txBody>
      </p:sp>
      <p:sp>
        <p:nvSpPr>
          <p:cNvPr id="22" name="Shape 20"/>
          <p:cNvSpPr/>
          <p:nvPr/>
        </p:nvSpPr>
        <p:spPr>
          <a:xfrm>
            <a:off x="713232" y="3977640"/>
            <a:ext cx="4892040" cy="1664208"/>
          </a:xfrm>
          <a:prstGeom prst="roundRect">
            <a:avLst>
              <a:gd name="adj" fmla="val 4396"/>
            </a:avLst>
          </a:prstGeom>
          <a:solidFill>
            <a:srgbClr val="0E1726"/>
          </a:solidFill>
          <a:ln w="12700">
            <a:solidFill>
              <a:srgbClr val="162033"/>
            </a:solidFill>
            <a:prstDash val="solid"/>
          </a:ln>
          <a:effectLst>
            <a:outerShdw blurRad="15240" dist="11430" dir="2700000" algn="bl" rotWithShape="0">
              <a:srgbClr val="000000">
                <a:alpha val="24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23" name="Shape 21"/>
          <p:cNvSpPr/>
          <p:nvPr/>
        </p:nvSpPr>
        <p:spPr>
          <a:xfrm>
            <a:off x="713232" y="3977640"/>
            <a:ext cx="4892040" cy="292608"/>
          </a:xfrm>
          <a:prstGeom prst="rect">
            <a:avLst/>
          </a:prstGeom>
          <a:solidFill>
            <a:srgbClr val="0A1020"/>
          </a:solidFill>
          <a:ln w="12700">
            <a:solidFill>
              <a:srgbClr val="0A1020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4" name="Shape 22"/>
          <p:cNvSpPr/>
          <p:nvPr/>
        </p:nvSpPr>
        <p:spPr>
          <a:xfrm>
            <a:off x="859536" y="4078224"/>
            <a:ext cx="73152" cy="73152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5" name="Shape 23"/>
          <p:cNvSpPr/>
          <p:nvPr/>
        </p:nvSpPr>
        <p:spPr>
          <a:xfrm>
            <a:off x="996696" y="4078224"/>
            <a:ext cx="73152" cy="7315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6" name="Shape 24"/>
          <p:cNvSpPr/>
          <p:nvPr/>
        </p:nvSpPr>
        <p:spPr>
          <a:xfrm>
            <a:off x="1133856" y="4078224"/>
            <a:ext cx="73152" cy="73152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7" name="Text 25"/>
          <p:cNvSpPr/>
          <p:nvPr/>
        </p:nvSpPr>
        <p:spPr>
          <a:xfrm>
            <a:off x="1353312" y="4064508"/>
            <a:ext cx="4114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94A3B8"/>
                </a:solidFill>
              </a:rPr>
              <a:t>Venta con control automático de cupo</a:t>
            </a:r>
            <a:endParaRPr lang="en-US" sz="680" dirty="0"/>
          </a:p>
        </p:txBody>
      </p:sp>
      <p:sp>
        <p:nvSpPr>
          <p:cNvPr id="29" name="Shape 26"/>
          <p:cNvSpPr/>
          <p:nvPr/>
        </p:nvSpPr>
        <p:spPr>
          <a:xfrm>
            <a:off x="713232" y="4251960"/>
            <a:ext cx="4892040" cy="274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0" name="Shape 27"/>
          <p:cNvSpPr/>
          <p:nvPr/>
        </p:nvSpPr>
        <p:spPr>
          <a:xfrm>
            <a:off x="5989320" y="3977640"/>
            <a:ext cx="5413248" cy="1664208"/>
          </a:xfrm>
          <a:prstGeom prst="roundRect">
            <a:avLst>
              <a:gd name="adj" fmla="val 4396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2700" dist="889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31" name="Shape 28"/>
          <p:cNvSpPr/>
          <p:nvPr/>
        </p:nvSpPr>
        <p:spPr>
          <a:xfrm>
            <a:off x="5989320" y="3977640"/>
            <a:ext cx="73152" cy="166420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2" name="Text 29"/>
          <p:cNvSpPr/>
          <p:nvPr/>
        </p:nvSpPr>
        <p:spPr>
          <a:xfrm>
            <a:off x="6217920" y="4142232"/>
            <a:ext cx="5029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Idea central para la audiencia</a:t>
            </a:r>
            <a:endParaRPr lang="en-US" sz="1350" dirty="0"/>
          </a:p>
        </p:txBody>
      </p:sp>
      <p:sp>
        <p:nvSpPr>
          <p:cNvPr id="33" name="Text 30"/>
          <p:cNvSpPr/>
          <p:nvPr/>
        </p:nvSpPr>
        <p:spPr>
          <a:xfrm>
            <a:off x="6217920" y="4544568"/>
            <a:ext cx="5029200" cy="9784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30" dirty="0">
                <a:solidFill>
                  <a:srgbClr val="0F172A"/>
                </a:solidFill>
              </a:rPr>
              <a:t>El sistema no solo registra eventos: aplica reglas de negocio, protege la calidad de datos y transforma la actividad de la agenda en información visible.</a:t>
            </a:r>
            <a:endParaRPr lang="en-US" sz="1130" dirty="0"/>
          </a:p>
        </p:txBody>
      </p:sp>
      <p:pic>
        <p:nvPicPr>
          <p:cNvPr id="34" name="Picture 33" descr="2_mockup_venta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297680"/>
            <a:ext cx="4855464" cy="130759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 w="12700">
            <a:solidFill>
              <a:srgbClr val="F7FAFC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4" name="Shap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6111F"/>
          </a:solidFill>
          <a:ln w="12700">
            <a:solidFill>
              <a:srgbClr val="06111F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5" name="Text 3"/>
          <p:cNvSpPr/>
          <p:nvPr/>
        </p:nvSpPr>
        <p:spPr>
          <a:xfrm>
            <a:off x="566928" y="32004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059669"/>
                </a:solidFill>
              </a:rPr>
              <a:t>NECESIDAD</a:t>
            </a:r>
            <a:endParaRPr lang="en-US" sz="820" dirty="0"/>
          </a:p>
        </p:txBody>
      </p:sp>
      <p:sp>
        <p:nvSpPr>
          <p:cNvPr id="6" name="Text 4"/>
          <p:cNvSpPr/>
          <p:nvPr/>
        </p:nvSpPr>
        <p:spPr>
          <a:xfrm>
            <a:off x="566928" y="585216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problema que resuelve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66928" y="1179576"/>
            <a:ext cx="11064240" cy="0"/>
          </a:xfrm>
          <a:prstGeom prst="line">
            <a:avLst/>
          </a:prstGeom>
          <a:noFill/>
          <a:ln w="12700">
            <a:solidFill>
              <a:srgbClr val="D8E2EE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8" name="Text 6"/>
          <p:cNvSpPr/>
          <p:nvPr/>
        </p:nvSpPr>
        <p:spPr>
          <a:xfrm>
            <a:off x="566928" y="6528816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4748B"/>
                </a:solidFill>
              </a:rPr>
              <a:t>Sistema de Gestión de Eventos · Paradigmas de la Programación · FP-UNA 2026</a:t>
            </a:r>
            <a:endParaRPr lang="en-US" sz="720" dirty="0"/>
          </a:p>
        </p:txBody>
      </p:sp>
      <p:sp>
        <p:nvSpPr>
          <p:cNvPr id="9" name="Text 7"/>
          <p:cNvSpPr/>
          <p:nvPr/>
        </p:nvSpPr>
        <p:spPr>
          <a:xfrm>
            <a:off x="11192256" y="64922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03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58368" y="1417320"/>
            <a:ext cx="342900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2700" dist="889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1" name="Shape 9"/>
          <p:cNvSpPr/>
          <p:nvPr/>
        </p:nvSpPr>
        <p:spPr>
          <a:xfrm>
            <a:off x="658368" y="1417320"/>
            <a:ext cx="73152" cy="20574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2" name="Text 10"/>
          <p:cNvSpPr/>
          <p:nvPr/>
        </p:nvSpPr>
        <p:spPr>
          <a:xfrm>
            <a:off x="886968" y="1581912"/>
            <a:ext cx="30449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Gestión manual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86968" y="1984248"/>
            <a:ext cx="3044952" cy="1371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Registrar eventos sin un sistema centralizado puede generar datos incompletos o difíciles de consultar.</a:t>
            </a:r>
            <a:endParaRPr lang="en-US" sz="1020" dirty="0"/>
          </a:p>
        </p:txBody>
      </p:sp>
      <p:sp>
        <p:nvSpPr>
          <p:cNvPr id="14" name="Shape 12"/>
          <p:cNvSpPr/>
          <p:nvPr/>
        </p:nvSpPr>
        <p:spPr>
          <a:xfrm>
            <a:off x="4389120" y="1417320"/>
            <a:ext cx="342900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2700" dist="889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5" name="Shape 13"/>
          <p:cNvSpPr/>
          <p:nvPr/>
        </p:nvSpPr>
        <p:spPr>
          <a:xfrm>
            <a:off x="4389120" y="1417320"/>
            <a:ext cx="73152" cy="20574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6" name="Text 14"/>
          <p:cNvSpPr/>
          <p:nvPr/>
        </p:nvSpPr>
        <p:spPr>
          <a:xfrm>
            <a:off x="4617720" y="1581912"/>
            <a:ext cx="30449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Riesgo de cupo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617720" y="1984248"/>
            <a:ext cx="3044952" cy="1371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Sin control automático, las ventas pueden superar la capacidad real del evento.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8119872" y="1417320"/>
            <a:ext cx="342900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2700" dist="889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9" name="Shape 17"/>
          <p:cNvSpPr/>
          <p:nvPr/>
        </p:nvSpPr>
        <p:spPr>
          <a:xfrm>
            <a:off x="8119872" y="1417320"/>
            <a:ext cx="73152" cy="20574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0" name="Text 18"/>
          <p:cNvSpPr/>
          <p:nvPr/>
        </p:nvSpPr>
        <p:spPr>
          <a:xfrm>
            <a:off x="8348472" y="1581912"/>
            <a:ext cx="30449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Poca visibilidad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348472" y="1984248"/>
            <a:ext cx="3044952" cy="1371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Sin indicadores, cuesta saber cuántos eventos están confirmados, pendientes o con entradas vendidas.</a:t>
            </a:r>
            <a:endParaRPr lang="en-US" sz="1020" dirty="0"/>
          </a:p>
        </p:txBody>
      </p:sp>
      <p:sp>
        <p:nvSpPr>
          <p:cNvPr id="22" name="Shape 20"/>
          <p:cNvSpPr/>
          <p:nvPr/>
        </p:nvSpPr>
        <p:spPr>
          <a:xfrm>
            <a:off x="749808" y="3840480"/>
            <a:ext cx="4800600" cy="1691640"/>
          </a:xfrm>
          <a:prstGeom prst="roundRect">
            <a:avLst>
              <a:gd name="adj" fmla="val 4324"/>
            </a:avLst>
          </a:prstGeom>
          <a:solidFill>
            <a:srgbClr val="0E1726"/>
          </a:solidFill>
          <a:ln w="12700">
            <a:solidFill>
              <a:srgbClr val="162033"/>
            </a:solidFill>
            <a:prstDash val="solid"/>
          </a:ln>
          <a:effectLst>
            <a:outerShdw blurRad="15240" dist="11430" dir="2700000" algn="bl" rotWithShape="0">
              <a:srgbClr val="000000">
                <a:alpha val="24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23" name="Shape 21"/>
          <p:cNvSpPr/>
          <p:nvPr/>
        </p:nvSpPr>
        <p:spPr>
          <a:xfrm>
            <a:off x="749808" y="3840480"/>
            <a:ext cx="4800600" cy="292608"/>
          </a:xfrm>
          <a:prstGeom prst="rect">
            <a:avLst/>
          </a:prstGeom>
          <a:solidFill>
            <a:srgbClr val="0A1020"/>
          </a:solidFill>
          <a:ln w="12700">
            <a:solidFill>
              <a:srgbClr val="0A1020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4" name="Shape 22"/>
          <p:cNvSpPr/>
          <p:nvPr/>
        </p:nvSpPr>
        <p:spPr>
          <a:xfrm>
            <a:off x="896112" y="3941064"/>
            <a:ext cx="73152" cy="73152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5" name="Shape 23"/>
          <p:cNvSpPr/>
          <p:nvPr/>
        </p:nvSpPr>
        <p:spPr>
          <a:xfrm>
            <a:off x="1033272" y="3941064"/>
            <a:ext cx="73152" cy="7315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6" name="Shape 24"/>
          <p:cNvSpPr/>
          <p:nvPr/>
        </p:nvSpPr>
        <p:spPr>
          <a:xfrm>
            <a:off x="1170432" y="3941064"/>
            <a:ext cx="73152" cy="73152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7" name="Text 25"/>
          <p:cNvSpPr/>
          <p:nvPr/>
        </p:nvSpPr>
        <p:spPr>
          <a:xfrm>
            <a:off x="1389888" y="3927348"/>
            <a:ext cx="40233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94A3B8"/>
                </a:solidFill>
              </a:rPr>
              <a:t>Validación durante la carga</a:t>
            </a:r>
            <a:endParaRPr lang="en-US" sz="680" dirty="0"/>
          </a:p>
        </p:txBody>
      </p:sp>
      <p:sp>
        <p:nvSpPr>
          <p:cNvPr id="29" name="Shape 26"/>
          <p:cNvSpPr/>
          <p:nvPr/>
        </p:nvSpPr>
        <p:spPr>
          <a:xfrm>
            <a:off x="749808" y="4114800"/>
            <a:ext cx="4800600" cy="274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0" name="Shape 27"/>
          <p:cNvSpPr/>
          <p:nvPr/>
        </p:nvSpPr>
        <p:spPr>
          <a:xfrm>
            <a:off x="5989320" y="384048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2700" dist="889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31" name="Shape 28"/>
          <p:cNvSpPr/>
          <p:nvPr/>
        </p:nvSpPr>
        <p:spPr>
          <a:xfrm>
            <a:off x="5989320" y="3840480"/>
            <a:ext cx="73152" cy="16916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2" name="Text 29"/>
          <p:cNvSpPr/>
          <p:nvPr/>
        </p:nvSpPr>
        <p:spPr>
          <a:xfrm>
            <a:off x="6217920" y="4005072"/>
            <a:ext cx="50109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Respuesta de la solución</a:t>
            </a:r>
            <a:endParaRPr lang="en-US" sz="1350" dirty="0"/>
          </a:p>
        </p:txBody>
      </p:sp>
      <p:sp>
        <p:nvSpPr>
          <p:cNvPr id="33" name="Text 30"/>
          <p:cNvSpPr/>
          <p:nvPr/>
        </p:nvSpPr>
        <p:spPr>
          <a:xfrm>
            <a:off x="6217920" y="4407408"/>
            <a:ext cx="5010912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</a:rPr>
              <a:t>Centralizar el flujo en consola, validar entradas incorrectas y mostrar métricas claras al finalizar la operación.</a:t>
            </a:r>
            <a:endParaRPr lang="en-US" sz="1100" dirty="0"/>
          </a:p>
        </p:txBody>
      </p:sp>
      <p:pic>
        <p:nvPicPr>
          <p:cNvPr id="34" name="Picture 33" descr="3_mockup_alta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" y="4160520"/>
            <a:ext cx="4764024" cy="133502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 w="12700">
            <a:solidFill>
              <a:srgbClr val="F7FAFC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4" name="Shap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6111F"/>
          </a:solidFill>
          <a:ln w="12700">
            <a:solidFill>
              <a:srgbClr val="06111F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5" name="Text 3"/>
          <p:cNvSpPr/>
          <p:nvPr/>
        </p:nvSpPr>
        <p:spPr>
          <a:xfrm>
            <a:off x="566928" y="32004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059669"/>
                </a:solidFill>
              </a:rPr>
              <a:t>PROPUESTA DE VALOR</a:t>
            </a:r>
            <a:endParaRPr lang="en-US" sz="820" dirty="0"/>
          </a:p>
        </p:txBody>
      </p:sp>
      <p:sp>
        <p:nvSpPr>
          <p:cNvPr id="6" name="Text 4"/>
          <p:cNvSpPr/>
          <p:nvPr/>
        </p:nvSpPr>
        <p:spPr>
          <a:xfrm>
            <a:off x="566928" y="585216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Control, trazabilidad y visibilidad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66928" y="1179576"/>
            <a:ext cx="11064240" cy="0"/>
          </a:xfrm>
          <a:prstGeom prst="line">
            <a:avLst/>
          </a:prstGeom>
          <a:noFill/>
          <a:ln w="12700">
            <a:solidFill>
              <a:srgbClr val="D8E2EE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8" name="Text 6"/>
          <p:cNvSpPr/>
          <p:nvPr/>
        </p:nvSpPr>
        <p:spPr>
          <a:xfrm>
            <a:off x="566928" y="6528816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4748B"/>
                </a:solidFill>
              </a:rPr>
              <a:t>Sistema de Gestión de Eventos · Paradigmas de la Programación · FP-UNA 2026</a:t>
            </a:r>
            <a:endParaRPr lang="en-US" sz="720" dirty="0"/>
          </a:p>
        </p:txBody>
      </p:sp>
      <p:sp>
        <p:nvSpPr>
          <p:cNvPr id="9" name="Text 7"/>
          <p:cNvSpPr/>
          <p:nvPr/>
        </p:nvSpPr>
        <p:spPr>
          <a:xfrm>
            <a:off x="11192256" y="64922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04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58368" y="1417320"/>
            <a:ext cx="33375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2700" dist="889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1" name="Shape 9"/>
          <p:cNvSpPr/>
          <p:nvPr/>
        </p:nvSpPr>
        <p:spPr>
          <a:xfrm>
            <a:off x="658368" y="1417320"/>
            <a:ext cx="73152" cy="21488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2" name="Text 10"/>
          <p:cNvSpPr/>
          <p:nvPr/>
        </p:nvSpPr>
        <p:spPr>
          <a:xfrm>
            <a:off x="886968" y="1581912"/>
            <a:ext cx="29535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Control operativo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86968" y="1984248"/>
            <a:ext cx="2953512" cy="1463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El sistema valida fecha, cupo positivo y disponibilidad antes de aceptar cada operación.</a:t>
            </a:r>
            <a:endParaRPr lang="en-US" sz="1020" dirty="0"/>
          </a:p>
        </p:txBody>
      </p:sp>
      <p:sp>
        <p:nvSpPr>
          <p:cNvPr id="14" name="Shape 12"/>
          <p:cNvSpPr/>
          <p:nvPr/>
        </p:nvSpPr>
        <p:spPr>
          <a:xfrm>
            <a:off x="4425696" y="1417320"/>
            <a:ext cx="33375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2700" dist="889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5" name="Shape 13"/>
          <p:cNvSpPr/>
          <p:nvPr/>
        </p:nvSpPr>
        <p:spPr>
          <a:xfrm>
            <a:off x="4425696" y="1417320"/>
            <a:ext cx="73152" cy="21488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6" name="Text 14"/>
          <p:cNvSpPr/>
          <p:nvPr/>
        </p:nvSpPr>
        <p:spPr>
          <a:xfrm>
            <a:off x="4654296" y="1581912"/>
            <a:ext cx="29535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Trazabilidad del evento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654296" y="1984248"/>
            <a:ext cx="2953512" cy="1463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Cada registro conserva nombre, fecha, lugar, categoría, capacidad, ventas y estado.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8193024" y="1417320"/>
            <a:ext cx="33375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2700" dist="889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9" name="Shape 17"/>
          <p:cNvSpPr/>
          <p:nvPr/>
        </p:nvSpPr>
        <p:spPr>
          <a:xfrm>
            <a:off x="8193024" y="1417320"/>
            <a:ext cx="73152" cy="21488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0" name="Text 18"/>
          <p:cNvSpPr/>
          <p:nvPr/>
        </p:nvSpPr>
        <p:spPr>
          <a:xfrm>
            <a:off x="8421624" y="1581912"/>
            <a:ext cx="29535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Información útil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421624" y="1984248"/>
            <a:ext cx="2953512" cy="1463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Las estadísticas resumen confirmados, pendientes, entradas vendidas, cupo total, ocupación y categorías.</a:t>
            </a:r>
            <a:endParaRPr lang="en-US" sz="1020" dirty="0"/>
          </a:p>
        </p:txBody>
      </p:sp>
      <p:sp>
        <p:nvSpPr>
          <p:cNvPr id="22" name="Shape 20"/>
          <p:cNvSpPr/>
          <p:nvPr/>
        </p:nvSpPr>
        <p:spPr>
          <a:xfrm>
            <a:off x="960120" y="4069080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0160" dist="6985" dir="27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23" name="Text 21"/>
          <p:cNvSpPr/>
          <p:nvPr/>
        </p:nvSpPr>
        <p:spPr>
          <a:xfrm>
            <a:off x="1124712" y="4206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59669"/>
                </a:solidFill>
              </a:rPr>
              <a:t>0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097280" y="4645152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Sobreventas permitidas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401568" y="4069080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0160" dist="6985" dir="27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26" name="Text 24"/>
          <p:cNvSpPr/>
          <p:nvPr/>
        </p:nvSpPr>
        <p:spPr>
          <a:xfrm>
            <a:off x="3566160" y="4206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D4ED8"/>
                </a:solidFill>
              </a:rPr>
              <a:t>54%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3538728" y="4645152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Ocupación en la demo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843016" y="4069080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0160" dist="6985" dir="27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29" name="Text 27"/>
          <p:cNvSpPr/>
          <p:nvPr/>
        </p:nvSpPr>
        <p:spPr>
          <a:xfrm>
            <a:off x="6007608" y="4206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59E0B"/>
                </a:solidFill>
              </a:rPr>
              <a:t>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5980176" y="4645152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Eventos del escenario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8284464" y="4069080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0160" dist="6985" dir="27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32" name="Text 30"/>
          <p:cNvSpPr/>
          <p:nvPr/>
        </p:nvSpPr>
        <p:spPr>
          <a:xfrm>
            <a:off x="8449056" y="4206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7C3AED"/>
                </a:solidFill>
              </a:rPr>
              <a:t>3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8421624" y="4645152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Vistas de análisis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987552" y="5532120"/>
            <a:ext cx="78985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 w="12700">
            <a:solidFill>
              <a:srgbClr val="F7FAFC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4" name="Shap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6111F"/>
          </a:solidFill>
          <a:ln w="12700">
            <a:solidFill>
              <a:srgbClr val="06111F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5" name="Text 3"/>
          <p:cNvSpPr/>
          <p:nvPr/>
        </p:nvSpPr>
        <p:spPr>
          <a:xfrm>
            <a:off x="566928" y="32004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059669"/>
                </a:solidFill>
              </a:rPr>
              <a:t>CAPACIDADES PRINCIPALES</a:t>
            </a:r>
            <a:endParaRPr lang="en-US" sz="820" dirty="0"/>
          </a:p>
        </p:txBody>
      </p:sp>
      <p:sp>
        <p:nvSpPr>
          <p:cNvPr id="6" name="Text 4"/>
          <p:cNvSpPr/>
          <p:nvPr/>
        </p:nvSpPr>
        <p:spPr>
          <a:xfrm>
            <a:off x="566928" y="585216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Todo lo que permite hacer la aplicación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66928" y="1179576"/>
            <a:ext cx="11064240" cy="0"/>
          </a:xfrm>
          <a:prstGeom prst="line">
            <a:avLst/>
          </a:prstGeom>
          <a:noFill/>
          <a:ln w="12700">
            <a:solidFill>
              <a:srgbClr val="D8E2EE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8" name="Text 6"/>
          <p:cNvSpPr/>
          <p:nvPr/>
        </p:nvSpPr>
        <p:spPr>
          <a:xfrm>
            <a:off x="566928" y="6528816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4748B"/>
                </a:solidFill>
              </a:rPr>
              <a:t>Sistema de Gestión de Eventos · Paradigmas de la Programación · FP-UNA 2026</a:t>
            </a:r>
            <a:endParaRPr lang="en-US" sz="720" dirty="0"/>
          </a:p>
        </p:txBody>
      </p:sp>
      <p:sp>
        <p:nvSpPr>
          <p:cNvPr id="9" name="Text 7"/>
          <p:cNvSpPr/>
          <p:nvPr/>
        </p:nvSpPr>
        <p:spPr>
          <a:xfrm>
            <a:off x="11192256" y="64922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05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58368" y="1444752"/>
            <a:ext cx="333756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0160" dist="6985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1" name="Shape 9"/>
          <p:cNvSpPr/>
          <p:nvPr/>
        </p:nvSpPr>
        <p:spPr>
          <a:xfrm>
            <a:off x="658368" y="1444752"/>
            <a:ext cx="73152" cy="10789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2" name="Shape 10"/>
          <p:cNvSpPr/>
          <p:nvPr/>
        </p:nvSpPr>
        <p:spPr>
          <a:xfrm>
            <a:off x="841248" y="1645920"/>
            <a:ext cx="384048" cy="38404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3" name="Text 11"/>
          <p:cNvSpPr/>
          <p:nvPr/>
        </p:nvSpPr>
        <p:spPr>
          <a:xfrm>
            <a:off x="841248" y="1732788"/>
            <a:ext cx="38404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371600" y="1627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10" b="1" dirty="0">
                <a:solidFill>
                  <a:srgbClr val="0F172A"/>
                </a:solidFill>
              </a:rPr>
              <a:t>Crear agenda</a:t>
            </a:r>
            <a:endParaRPr lang="en-US" sz="1210" dirty="0"/>
          </a:p>
        </p:txBody>
      </p:sp>
      <p:sp>
        <p:nvSpPr>
          <p:cNvPr id="15" name="Text 13"/>
          <p:cNvSpPr/>
          <p:nvPr/>
        </p:nvSpPr>
        <p:spPr>
          <a:xfrm>
            <a:off x="1371600" y="2011680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64748B"/>
                </a:solidFill>
              </a:rPr>
              <a:t>Nombre y deporte</a:t>
            </a:r>
            <a:endParaRPr lang="en-US" sz="870" dirty="0"/>
          </a:p>
        </p:txBody>
      </p:sp>
      <p:sp>
        <p:nvSpPr>
          <p:cNvPr id="16" name="Shape 14"/>
          <p:cNvSpPr/>
          <p:nvPr/>
        </p:nvSpPr>
        <p:spPr>
          <a:xfrm>
            <a:off x="4416552" y="1444752"/>
            <a:ext cx="333756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0160" dist="6985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7" name="Shape 15"/>
          <p:cNvSpPr/>
          <p:nvPr/>
        </p:nvSpPr>
        <p:spPr>
          <a:xfrm>
            <a:off x="4416552" y="1444752"/>
            <a:ext cx="73152" cy="107899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8" name="Shape 16"/>
          <p:cNvSpPr/>
          <p:nvPr/>
        </p:nvSpPr>
        <p:spPr>
          <a:xfrm>
            <a:off x="4599432" y="1645920"/>
            <a:ext cx="384048" cy="38404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9" name="Text 17"/>
          <p:cNvSpPr/>
          <p:nvPr/>
        </p:nvSpPr>
        <p:spPr>
          <a:xfrm>
            <a:off x="4599432" y="1732788"/>
            <a:ext cx="38404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5129784" y="1627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10" b="1" dirty="0">
                <a:solidFill>
                  <a:srgbClr val="0F172A"/>
                </a:solidFill>
              </a:rPr>
              <a:t>Registrar eventos</a:t>
            </a:r>
            <a:endParaRPr lang="en-US" sz="1210" dirty="0"/>
          </a:p>
        </p:txBody>
      </p:sp>
      <p:sp>
        <p:nvSpPr>
          <p:cNvPr id="21" name="Text 19"/>
          <p:cNvSpPr/>
          <p:nvPr/>
        </p:nvSpPr>
        <p:spPr>
          <a:xfrm>
            <a:off x="5129784" y="2011680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64748B"/>
                </a:solidFill>
              </a:rPr>
              <a:t>Fecha, lugar, categoría y cupo</a:t>
            </a:r>
            <a:endParaRPr lang="en-US" sz="870" dirty="0"/>
          </a:p>
        </p:txBody>
      </p:sp>
      <p:sp>
        <p:nvSpPr>
          <p:cNvPr id="22" name="Shape 20"/>
          <p:cNvSpPr/>
          <p:nvPr/>
        </p:nvSpPr>
        <p:spPr>
          <a:xfrm>
            <a:off x="8174736" y="1444752"/>
            <a:ext cx="333756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0160" dist="6985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23" name="Shape 21"/>
          <p:cNvSpPr/>
          <p:nvPr/>
        </p:nvSpPr>
        <p:spPr>
          <a:xfrm>
            <a:off x="8174736" y="1444752"/>
            <a:ext cx="73152" cy="10789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4" name="Shape 22"/>
          <p:cNvSpPr/>
          <p:nvPr/>
        </p:nvSpPr>
        <p:spPr>
          <a:xfrm>
            <a:off x="8357616" y="1645920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5" name="Text 23"/>
          <p:cNvSpPr/>
          <p:nvPr/>
        </p:nvSpPr>
        <p:spPr>
          <a:xfrm>
            <a:off x="8357616" y="1732788"/>
            <a:ext cx="38404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3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887968" y="1627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10" b="1" dirty="0">
                <a:solidFill>
                  <a:srgbClr val="0F172A"/>
                </a:solidFill>
              </a:rPr>
              <a:t>Listar eventos</a:t>
            </a:r>
            <a:endParaRPr lang="en-US" sz="1210" dirty="0"/>
          </a:p>
        </p:txBody>
      </p:sp>
      <p:sp>
        <p:nvSpPr>
          <p:cNvPr id="27" name="Text 25"/>
          <p:cNvSpPr/>
          <p:nvPr/>
        </p:nvSpPr>
        <p:spPr>
          <a:xfrm>
            <a:off x="8887968" y="2011680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64748B"/>
                </a:solidFill>
              </a:rPr>
              <a:t>Vista completa de la agenda</a:t>
            </a:r>
            <a:endParaRPr lang="en-US" sz="870" dirty="0"/>
          </a:p>
        </p:txBody>
      </p:sp>
      <p:sp>
        <p:nvSpPr>
          <p:cNvPr id="28" name="Shape 26"/>
          <p:cNvSpPr/>
          <p:nvPr/>
        </p:nvSpPr>
        <p:spPr>
          <a:xfrm>
            <a:off x="658368" y="2834640"/>
            <a:ext cx="333756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0160" dist="6985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29" name="Shape 27"/>
          <p:cNvSpPr/>
          <p:nvPr/>
        </p:nvSpPr>
        <p:spPr>
          <a:xfrm>
            <a:off x="658368" y="2834640"/>
            <a:ext cx="73152" cy="10789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0" name="Shape 28"/>
          <p:cNvSpPr/>
          <p:nvPr/>
        </p:nvSpPr>
        <p:spPr>
          <a:xfrm>
            <a:off x="841248" y="3035808"/>
            <a:ext cx="384048" cy="38404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1" name="Text 29"/>
          <p:cNvSpPr/>
          <p:nvPr/>
        </p:nvSpPr>
        <p:spPr>
          <a:xfrm>
            <a:off x="841248" y="3122676"/>
            <a:ext cx="38404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4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371600" y="3017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10" b="1" dirty="0">
                <a:solidFill>
                  <a:srgbClr val="0F172A"/>
                </a:solidFill>
              </a:rPr>
              <a:t>Buscar</a:t>
            </a:r>
            <a:endParaRPr lang="en-US" sz="1210" dirty="0"/>
          </a:p>
        </p:txBody>
      </p:sp>
      <p:sp>
        <p:nvSpPr>
          <p:cNvPr id="33" name="Text 31"/>
          <p:cNvSpPr/>
          <p:nvPr/>
        </p:nvSpPr>
        <p:spPr>
          <a:xfrm>
            <a:off x="1371600" y="340156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64748B"/>
                </a:solidFill>
              </a:rPr>
              <a:t>Coincidencia parcial por nombre</a:t>
            </a:r>
            <a:endParaRPr lang="en-US" sz="870" dirty="0"/>
          </a:p>
        </p:txBody>
      </p:sp>
      <p:sp>
        <p:nvSpPr>
          <p:cNvPr id="34" name="Shape 32"/>
          <p:cNvSpPr/>
          <p:nvPr/>
        </p:nvSpPr>
        <p:spPr>
          <a:xfrm>
            <a:off x="4416552" y="2834640"/>
            <a:ext cx="333756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0160" dist="6985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35" name="Shape 33"/>
          <p:cNvSpPr/>
          <p:nvPr/>
        </p:nvSpPr>
        <p:spPr>
          <a:xfrm>
            <a:off x="4416552" y="2834640"/>
            <a:ext cx="73152" cy="107899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6" name="Shape 34"/>
          <p:cNvSpPr/>
          <p:nvPr/>
        </p:nvSpPr>
        <p:spPr>
          <a:xfrm>
            <a:off x="4599432" y="3035808"/>
            <a:ext cx="384048" cy="38404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7" name="Text 35"/>
          <p:cNvSpPr/>
          <p:nvPr/>
        </p:nvSpPr>
        <p:spPr>
          <a:xfrm>
            <a:off x="4599432" y="3122676"/>
            <a:ext cx="38404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5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129784" y="3017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10" b="1" dirty="0">
                <a:solidFill>
                  <a:srgbClr val="0F172A"/>
                </a:solidFill>
              </a:rPr>
              <a:t>Filtrar</a:t>
            </a:r>
            <a:endParaRPr lang="en-US" sz="1210" dirty="0"/>
          </a:p>
        </p:txBody>
      </p:sp>
      <p:sp>
        <p:nvSpPr>
          <p:cNvPr id="39" name="Text 37"/>
          <p:cNvSpPr/>
          <p:nvPr/>
        </p:nvSpPr>
        <p:spPr>
          <a:xfrm>
            <a:off x="5129784" y="340156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64748B"/>
                </a:solidFill>
              </a:rPr>
              <a:t>Categorías de evento</a:t>
            </a:r>
            <a:endParaRPr lang="en-US" sz="870" dirty="0"/>
          </a:p>
        </p:txBody>
      </p:sp>
      <p:sp>
        <p:nvSpPr>
          <p:cNvPr id="40" name="Shape 38"/>
          <p:cNvSpPr/>
          <p:nvPr/>
        </p:nvSpPr>
        <p:spPr>
          <a:xfrm>
            <a:off x="8174736" y="2834640"/>
            <a:ext cx="333756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0160" dist="6985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41" name="Shape 39"/>
          <p:cNvSpPr/>
          <p:nvPr/>
        </p:nvSpPr>
        <p:spPr>
          <a:xfrm>
            <a:off x="8174736" y="2834640"/>
            <a:ext cx="73152" cy="10789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42" name="Shape 40"/>
          <p:cNvSpPr/>
          <p:nvPr/>
        </p:nvSpPr>
        <p:spPr>
          <a:xfrm>
            <a:off x="8357616" y="3035808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43" name="Text 41"/>
          <p:cNvSpPr/>
          <p:nvPr/>
        </p:nvSpPr>
        <p:spPr>
          <a:xfrm>
            <a:off x="8357616" y="3122676"/>
            <a:ext cx="38404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6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8887968" y="3017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10" b="1" dirty="0">
                <a:solidFill>
                  <a:srgbClr val="0F172A"/>
                </a:solidFill>
              </a:rPr>
              <a:t>Confirmar</a:t>
            </a:r>
            <a:endParaRPr lang="en-US" sz="1210" dirty="0"/>
          </a:p>
        </p:txBody>
      </p:sp>
      <p:sp>
        <p:nvSpPr>
          <p:cNvPr id="45" name="Text 43"/>
          <p:cNvSpPr/>
          <p:nvPr/>
        </p:nvSpPr>
        <p:spPr>
          <a:xfrm>
            <a:off x="8887968" y="340156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64748B"/>
                </a:solidFill>
              </a:rPr>
              <a:t>Estado operativo del evento</a:t>
            </a:r>
            <a:endParaRPr lang="en-US" sz="870" dirty="0"/>
          </a:p>
        </p:txBody>
      </p:sp>
      <p:sp>
        <p:nvSpPr>
          <p:cNvPr id="46" name="Shape 44"/>
          <p:cNvSpPr/>
          <p:nvPr/>
        </p:nvSpPr>
        <p:spPr>
          <a:xfrm>
            <a:off x="658368" y="4224528"/>
            <a:ext cx="333756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0160" dist="6985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47" name="Shape 45"/>
          <p:cNvSpPr/>
          <p:nvPr/>
        </p:nvSpPr>
        <p:spPr>
          <a:xfrm>
            <a:off x="658368" y="4224528"/>
            <a:ext cx="73152" cy="10789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48" name="Shape 46"/>
          <p:cNvSpPr/>
          <p:nvPr/>
        </p:nvSpPr>
        <p:spPr>
          <a:xfrm>
            <a:off x="841248" y="4425696"/>
            <a:ext cx="384048" cy="38404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49" name="Text 47"/>
          <p:cNvSpPr/>
          <p:nvPr/>
        </p:nvSpPr>
        <p:spPr>
          <a:xfrm>
            <a:off x="841248" y="4512564"/>
            <a:ext cx="38404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7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371600" y="44074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10" b="1" dirty="0">
                <a:solidFill>
                  <a:srgbClr val="0F172A"/>
                </a:solidFill>
              </a:rPr>
              <a:t>Vender entradas</a:t>
            </a:r>
            <a:endParaRPr lang="en-US" sz="1210" dirty="0"/>
          </a:p>
        </p:txBody>
      </p:sp>
      <p:sp>
        <p:nvSpPr>
          <p:cNvPr id="51" name="Text 49"/>
          <p:cNvSpPr/>
          <p:nvPr/>
        </p:nvSpPr>
        <p:spPr>
          <a:xfrm>
            <a:off x="1371600" y="479145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64748B"/>
                </a:solidFill>
              </a:rPr>
              <a:t>Control automático de disponibilidad</a:t>
            </a:r>
            <a:endParaRPr lang="en-US" sz="870" dirty="0"/>
          </a:p>
        </p:txBody>
      </p:sp>
      <p:sp>
        <p:nvSpPr>
          <p:cNvPr id="52" name="Shape 50"/>
          <p:cNvSpPr/>
          <p:nvPr/>
        </p:nvSpPr>
        <p:spPr>
          <a:xfrm>
            <a:off x="4416552" y="4224528"/>
            <a:ext cx="333756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0160" dist="6985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53" name="Shape 51"/>
          <p:cNvSpPr/>
          <p:nvPr/>
        </p:nvSpPr>
        <p:spPr>
          <a:xfrm>
            <a:off x="4416552" y="4224528"/>
            <a:ext cx="73152" cy="107899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54" name="Shape 52"/>
          <p:cNvSpPr/>
          <p:nvPr/>
        </p:nvSpPr>
        <p:spPr>
          <a:xfrm>
            <a:off x="4599432" y="4425696"/>
            <a:ext cx="384048" cy="38404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55" name="Text 53"/>
          <p:cNvSpPr/>
          <p:nvPr/>
        </p:nvSpPr>
        <p:spPr>
          <a:xfrm>
            <a:off x="4599432" y="4512564"/>
            <a:ext cx="38404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8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5129784" y="44074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10" b="1" dirty="0">
                <a:solidFill>
                  <a:srgbClr val="0F172A"/>
                </a:solidFill>
              </a:rPr>
              <a:t>Ver estadísticas</a:t>
            </a:r>
            <a:endParaRPr lang="en-US" sz="1210" dirty="0"/>
          </a:p>
        </p:txBody>
      </p:sp>
      <p:sp>
        <p:nvSpPr>
          <p:cNvPr id="57" name="Text 55"/>
          <p:cNvSpPr/>
          <p:nvPr/>
        </p:nvSpPr>
        <p:spPr>
          <a:xfrm>
            <a:off x="5129784" y="479145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64748B"/>
                </a:solidFill>
              </a:rPr>
              <a:t>Indicadores de la colección</a:t>
            </a:r>
            <a:endParaRPr lang="en-US" sz="870" dirty="0"/>
          </a:p>
        </p:txBody>
      </p:sp>
      <p:sp>
        <p:nvSpPr>
          <p:cNvPr id="58" name="Shape 56"/>
          <p:cNvSpPr/>
          <p:nvPr/>
        </p:nvSpPr>
        <p:spPr>
          <a:xfrm>
            <a:off x="8174736" y="4224528"/>
            <a:ext cx="333756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0160" dist="6985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59" name="Shape 57"/>
          <p:cNvSpPr/>
          <p:nvPr/>
        </p:nvSpPr>
        <p:spPr>
          <a:xfrm>
            <a:off x="8174736" y="4224528"/>
            <a:ext cx="73152" cy="10789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60" name="Shape 58"/>
          <p:cNvSpPr/>
          <p:nvPr/>
        </p:nvSpPr>
        <p:spPr>
          <a:xfrm>
            <a:off x="8357616" y="4425696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61" name="Text 59"/>
          <p:cNvSpPr/>
          <p:nvPr/>
        </p:nvSpPr>
        <p:spPr>
          <a:xfrm>
            <a:off x="8357616" y="4512564"/>
            <a:ext cx="38404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9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8887968" y="44074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10" b="1" dirty="0">
                <a:solidFill>
                  <a:srgbClr val="0F172A"/>
                </a:solidFill>
              </a:rPr>
              <a:t>Analizar</a:t>
            </a:r>
            <a:endParaRPr lang="en-US" sz="1210" dirty="0"/>
          </a:p>
        </p:txBody>
      </p:sp>
      <p:sp>
        <p:nvSpPr>
          <p:cNvPr id="63" name="Text 61"/>
          <p:cNvSpPr/>
          <p:nvPr/>
        </p:nvSpPr>
        <p:spPr>
          <a:xfrm>
            <a:off x="8887968" y="479145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64748B"/>
                </a:solidFill>
              </a:rPr>
              <a:t>Confirmados, resúmenes y orden</a:t>
            </a:r>
            <a:endParaRPr lang="en-US" sz="870" dirty="0"/>
          </a:p>
        </p:txBody>
      </p:sp>
      <p:sp>
        <p:nvSpPr>
          <p:cNvPr id="64" name="Text 62"/>
          <p:cNvSpPr/>
          <p:nvPr/>
        </p:nvSpPr>
        <p:spPr>
          <a:xfrm>
            <a:off x="777240" y="5760720"/>
            <a:ext cx="10652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 w="12700">
            <a:solidFill>
              <a:srgbClr val="F7FAFC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4" name="Shap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6111F"/>
          </a:solidFill>
          <a:ln w="12700">
            <a:solidFill>
              <a:srgbClr val="06111F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5" name="Text 3"/>
          <p:cNvSpPr/>
          <p:nvPr/>
        </p:nvSpPr>
        <p:spPr>
          <a:xfrm>
            <a:off x="566928" y="32004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059669"/>
                </a:solidFill>
              </a:rPr>
              <a:t>RECORRIDO DE DEMOSTRACIÓN</a:t>
            </a:r>
            <a:endParaRPr lang="en-US" sz="820" dirty="0"/>
          </a:p>
        </p:txBody>
      </p:sp>
      <p:sp>
        <p:nvSpPr>
          <p:cNvPr id="6" name="Text 4"/>
          <p:cNvSpPr/>
          <p:nvPr/>
        </p:nvSpPr>
        <p:spPr>
          <a:xfrm>
            <a:off x="566928" y="585216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flujo que se mostrará en vivo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66928" y="1179576"/>
            <a:ext cx="11064240" cy="0"/>
          </a:xfrm>
          <a:prstGeom prst="line">
            <a:avLst/>
          </a:prstGeom>
          <a:noFill/>
          <a:ln w="12700">
            <a:solidFill>
              <a:srgbClr val="D8E2EE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8" name="Text 6"/>
          <p:cNvSpPr/>
          <p:nvPr/>
        </p:nvSpPr>
        <p:spPr>
          <a:xfrm>
            <a:off x="566928" y="6528816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4748B"/>
                </a:solidFill>
              </a:rPr>
              <a:t>Sistema de Gestión de Eventos · Paradigmas de la Programación · FP-UNA 2026</a:t>
            </a:r>
            <a:endParaRPr lang="en-US" sz="720" dirty="0"/>
          </a:p>
        </p:txBody>
      </p:sp>
      <p:sp>
        <p:nvSpPr>
          <p:cNvPr id="9" name="Text 7"/>
          <p:cNvSpPr/>
          <p:nvPr/>
        </p:nvSpPr>
        <p:spPr>
          <a:xfrm>
            <a:off x="11192256" y="64922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06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777240" y="1508760"/>
            <a:ext cx="384048" cy="38404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1" name="Text 9"/>
          <p:cNvSpPr/>
          <p:nvPr/>
        </p:nvSpPr>
        <p:spPr>
          <a:xfrm>
            <a:off x="777240" y="1581912"/>
            <a:ext cx="384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1280160" y="1527048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0F172A"/>
                </a:solidFill>
              </a:rPr>
              <a:t>Crear agenda</a:t>
            </a:r>
            <a:endParaRPr lang="en-US" sz="1220" dirty="0"/>
          </a:p>
        </p:txBody>
      </p:sp>
      <p:sp>
        <p:nvSpPr>
          <p:cNvPr id="13" name="Text 11"/>
          <p:cNvSpPr/>
          <p:nvPr/>
        </p:nvSpPr>
        <p:spPr>
          <a:xfrm>
            <a:off x="777240" y="1984248"/>
            <a:ext cx="3017520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70" dirty="0">
                <a:solidFill>
                  <a:srgbClr val="64748B"/>
                </a:solidFill>
              </a:rPr>
              <a:t>Se inicia la colección y se define el deporte de especialización.</a:t>
            </a:r>
            <a:endParaRPr lang="en-US" sz="970" dirty="0"/>
          </a:p>
        </p:txBody>
      </p:sp>
      <p:sp>
        <p:nvSpPr>
          <p:cNvPr id="14" name="Shape 12"/>
          <p:cNvSpPr/>
          <p:nvPr/>
        </p:nvSpPr>
        <p:spPr>
          <a:xfrm>
            <a:off x="3813048" y="1709928"/>
            <a:ext cx="384048" cy="0"/>
          </a:xfrm>
          <a:prstGeom prst="line">
            <a:avLst/>
          </a:prstGeom>
          <a:noFill/>
          <a:ln w="13970">
            <a:solidFill>
              <a:srgbClr val="D8E2E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PY"/>
          </a:p>
        </p:txBody>
      </p:sp>
      <p:sp>
        <p:nvSpPr>
          <p:cNvPr id="15" name="Shape 13"/>
          <p:cNvSpPr/>
          <p:nvPr/>
        </p:nvSpPr>
        <p:spPr>
          <a:xfrm>
            <a:off x="4471416" y="1508760"/>
            <a:ext cx="384048" cy="38404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6" name="Text 14"/>
          <p:cNvSpPr/>
          <p:nvPr/>
        </p:nvSpPr>
        <p:spPr>
          <a:xfrm>
            <a:off x="4471416" y="1581912"/>
            <a:ext cx="384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974336" y="1527048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0F172A"/>
                </a:solidFill>
              </a:rPr>
              <a:t>Cargar eventos</a:t>
            </a:r>
            <a:endParaRPr lang="en-US" sz="1220" dirty="0"/>
          </a:p>
        </p:txBody>
      </p:sp>
      <p:sp>
        <p:nvSpPr>
          <p:cNvPr id="18" name="Text 16"/>
          <p:cNvSpPr/>
          <p:nvPr/>
        </p:nvSpPr>
        <p:spPr>
          <a:xfrm>
            <a:off x="4471416" y="1984248"/>
            <a:ext cx="3017520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70" dirty="0">
                <a:solidFill>
                  <a:srgbClr val="64748B"/>
                </a:solidFill>
              </a:rPr>
              <a:t>Se registran eventos con fecha, lugar, categoría y cupo.</a:t>
            </a:r>
            <a:endParaRPr lang="en-US" sz="970" dirty="0"/>
          </a:p>
        </p:txBody>
      </p:sp>
      <p:sp>
        <p:nvSpPr>
          <p:cNvPr id="19" name="Shape 17"/>
          <p:cNvSpPr/>
          <p:nvPr/>
        </p:nvSpPr>
        <p:spPr>
          <a:xfrm>
            <a:off x="7507224" y="1709928"/>
            <a:ext cx="384048" cy="0"/>
          </a:xfrm>
          <a:prstGeom prst="line">
            <a:avLst/>
          </a:prstGeom>
          <a:noFill/>
          <a:ln w="13970">
            <a:solidFill>
              <a:srgbClr val="D8E2E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PY"/>
          </a:p>
        </p:txBody>
      </p:sp>
      <p:sp>
        <p:nvSpPr>
          <p:cNvPr id="20" name="Shape 18"/>
          <p:cNvSpPr/>
          <p:nvPr/>
        </p:nvSpPr>
        <p:spPr>
          <a:xfrm>
            <a:off x="8165592" y="1508760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1" name="Text 19"/>
          <p:cNvSpPr/>
          <p:nvPr/>
        </p:nvSpPr>
        <p:spPr>
          <a:xfrm>
            <a:off x="8165592" y="1581912"/>
            <a:ext cx="384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8668512" y="1527048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0F172A"/>
                </a:solidFill>
              </a:rPr>
              <a:t>Validar datos</a:t>
            </a:r>
            <a:endParaRPr lang="en-US" sz="1220" dirty="0"/>
          </a:p>
        </p:txBody>
      </p:sp>
      <p:sp>
        <p:nvSpPr>
          <p:cNvPr id="23" name="Text 21"/>
          <p:cNvSpPr/>
          <p:nvPr/>
        </p:nvSpPr>
        <p:spPr>
          <a:xfrm>
            <a:off x="8165592" y="1984248"/>
            <a:ext cx="3017520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70" dirty="0">
                <a:solidFill>
                  <a:srgbClr val="64748B"/>
                </a:solidFill>
              </a:rPr>
              <a:t>El sistema rechaza fecha inválida y vuelve a pedir el dato.</a:t>
            </a:r>
            <a:endParaRPr lang="en-US" sz="970" dirty="0"/>
          </a:p>
        </p:txBody>
      </p:sp>
      <p:sp>
        <p:nvSpPr>
          <p:cNvPr id="24" name="Shape 22"/>
          <p:cNvSpPr/>
          <p:nvPr/>
        </p:nvSpPr>
        <p:spPr>
          <a:xfrm>
            <a:off x="11201400" y="1709928"/>
            <a:ext cx="384048" cy="0"/>
          </a:xfrm>
          <a:prstGeom prst="line">
            <a:avLst/>
          </a:prstGeom>
          <a:noFill/>
          <a:ln w="13970">
            <a:solidFill>
              <a:srgbClr val="D8E2E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PY"/>
          </a:p>
        </p:txBody>
      </p:sp>
      <p:sp>
        <p:nvSpPr>
          <p:cNvPr id="25" name="Shape 23"/>
          <p:cNvSpPr/>
          <p:nvPr/>
        </p:nvSpPr>
        <p:spPr>
          <a:xfrm>
            <a:off x="777240" y="3474720"/>
            <a:ext cx="384048" cy="38404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6" name="Text 24"/>
          <p:cNvSpPr/>
          <p:nvPr/>
        </p:nvSpPr>
        <p:spPr>
          <a:xfrm>
            <a:off x="777240" y="3547872"/>
            <a:ext cx="384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280160" y="3493008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0F172A"/>
                </a:solidFill>
              </a:rPr>
              <a:t>Vender entradas</a:t>
            </a:r>
            <a:endParaRPr lang="en-US" sz="1220" dirty="0"/>
          </a:p>
        </p:txBody>
      </p:sp>
      <p:sp>
        <p:nvSpPr>
          <p:cNvPr id="28" name="Text 26"/>
          <p:cNvSpPr/>
          <p:nvPr/>
        </p:nvSpPr>
        <p:spPr>
          <a:xfrm>
            <a:off x="777240" y="3950208"/>
            <a:ext cx="3017520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70" dirty="0">
                <a:solidFill>
                  <a:srgbClr val="64748B"/>
                </a:solidFill>
              </a:rPr>
              <a:t>Se concreta la venta si hay disponibilidad suficiente.</a:t>
            </a:r>
            <a:endParaRPr lang="en-US" sz="970" dirty="0"/>
          </a:p>
        </p:txBody>
      </p:sp>
      <p:sp>
        <p:nvSpPr>
          <p:cNvPr id="29" name="Shape 27"/>
          <p:cNvSpPr/>
          <p:nvPr/>
        </p:nvSpPr>
        <p:spPr>
          <a:xfrm>
            <a:off x="3813048" y="3675888"/>
            <a:ext cx="384048" cy="0"/>
          </a:xfrm>
          <a:prstGeom prst="line">
            <a:avLst/>
          </a:prstGeom>
          <a:noFill/>
          <a:ln w="13970">
            <a:solidFill>
              <a:srgbClr val="D8E2E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PY"/>
          </a:p>
        </p:txBody>
      </p:sp>
      <p:sp>
        <p:nvSpPr>
          <p:cNvPr id="30" name="Shape 28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1" name="Text 29"/>
          <p:cNvSpPr/>
          <p:nvPr/>
        </p:nvSpPr>
        <p:spPr>
          <a:xfrm>
            <a:off x="4471416" y="3547872"/>
            <a:ext cx="384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5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974336" y="3493008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0F172A"/>
                </a:solidFill>
              </a:rPr>
              <a:t>Rechazar sobreventa</a:t>
            </a:r>
            <a:endParaRPr lang="en-US" sz="1220" dirty="0"/>
          </a:p>
        </p:txBody>
      </p:sp>
      <p:sp>
        <p:nvSpPr>
          <p:cNvPr id="33" name="Text 31"/>
          <p:cNvSpPr/>
          <p:nvPr/>
        </p:nvSpPr>
        <p:spPr>
          <a:xfrm>
            <a:off x="4471416" y="3950208"/>
            <a:ext cx="3017520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70" dirty="0">
                <a:solidFill>
                  <a:srgbClr val="64748B"/>
                </a:solidFill>
              </a:rPr>
              <a:t>Si la cantidad supera el cupo disponible, la operación no avanza.</a:t>
            </a:r>
            <a:endParaRPr lang="en-US" sz="970" dirty="0"/>
          </a:p>
        </p:txBody>
      </p:sp>
      <p:sp>
        <p:nvSpPr>
          <p:cNvPr id="34" name="Shape 32"/>
          <p:cNvSpPr/>
          <p:nvPr/>
        </p:nvSpPr>
        <p:spPr>
          <a:xfrm>
            <a:off x="7507224" y="3675888"/>
            <a:ext cx="384048" cy="0"/>
          </a:xfrm>
          <a:prstGeom prst="line">
            <a:avLst/>
          </a:prstGeom>
          <a:noFill/>
          <a:ln w="13970">
            <a:solidFill>
              <a:srgbClr val="D8E2E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PY"/>
          </a:p>
        </p:txBody>
      </p:sp>
      <p:sp>
        <p:nvSpPr>
          <p:cNvPr id="35" name="Shape 33"/>
          <p:cNvSpPr/>
          <p:nvPr/>
        </p:nvSpPr>
        <p:spPr>
          <a:xfrm>
            <a:off x="8165592" y="3474720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6" name="Text 34"/>
          <p:cNvSpPr/>
          <p:nvPr/>
        </p:nvSpPr>
        <p:spPr>
          <a:xfrm>
            <a:off x="8165592" y="3547872"/>
            <a:ext cx="384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6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8668512" y="3493008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0F172A"/>
                </a:solidFill>
              </a:rPr>
              <a:t>Ver estadísticas</a:t>
            </a:r>
            <a:endParaRPr lang="en-US" sz="1220" dirty="0"/>
          </a:p>
        </p:txBody>
      </p:sp>
      <p:sp>
        <p:nvSpPr>
          <p:cNvPr id="38" name="Text 36"/>
          <p:cNvSpPr/>
          <p:nvPr/>
        </p:nvSpPr>
        <p:spPr>
          <a:xfrm>
            <a:off x="8165592" y="3950208"/>
            <a:ext cx="3017520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70" dirty="0">
                <a:solidFill>
                  <a:srgbClr val="64748B"/>
                </a:solidFill>
              </a:rPr>
              <a:t>Se visualiza el estado de la agenda y el reglamento del deporte.</a:t>
            </a:r>
            <a:endParaRPr lang="en-US" sz="970" dirty="0"/>
          </a:p>
        </p:txBody>
      </p:sp>
      <p:sp>
        <p:nvSpPr>
          <p:cNvPr id="39" name="Shape 37"/>
          <p:cNvSpPr/>
          <p:nvPr/>
        </p:nvSpPr>
        <p:spPr>
          <a:xfrm>
            <a:off x="2907792" y="4572000"/>
            <a:ext cx="6355080" cy="1737360"/>
          </a:xfrm>
          <a:prstGeom prst="roundRect">
            <a:avLst>
              <a:gd name="adj" fmla="val 6400"/>
            </a:avLst>
          </a:prstGeom>
          <a:solidFill>
            <a:srgbClr val="0E1726"/>
          </a:solidFill>
          <a:ln w="12700">
            <a:solidFill>
              <a:srgbClr val="162033"/>
            </a:solidFill>
            <a:prstDash val="solid"/>
          </a:ln>
          <a:effectLst>
            <a:outerShdw blurRad="15240" dist="11430" dir="2700000" algn="bl" rotWithShape="0">
              <a:srgbClr val="000000">
                <a:alpha val="24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40" name="Shape 38"/>
          <p:cNvSpPr/>
          <p:nvPr/>
        </p:nvSpPr>
        <p:spPr>
          <a:xfrm>
            <a:off x="2907792" y="4572000"/>
            <a:ext cx="6355080" cy="292608"/>
          </a:xfrm>
          <a:prstGeom prst="rect">
            <a:avLst/>
          </a:prstGeom>
          <a:solidFill>
            <a:srgbClr val="0A1020"/>
          </a:solidFill>
          <a:ln w="12700">
            <a:solidFill>
              <a:srgbClr val="0A1020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41" name="Shape 39"/>
          <p:cNvSpPr/>
          <p:nvPr/>
        </p:nvSpPr>
        <p:spPr>
          <a:xfrm>
            <a:off x="3054096" y="4672584"/>
            <a:ext cx="73152" cy="73152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42" name="Shape 40"/>
          <p:cNvSpPr/>
          <p:nvPr/>
        </p:nvSpPr>
        <p:spPr>
          <a:xfrm>
            <a:off x="3191256" y="4672584"/>
            <a:ext cx="73152" cy="7315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43" name="Shape 41"/>
          <p:cNvSpPr/>
          <p:nvPr/>
        </p:nvSpPr>
        <p:spPr>
          <a:xfrm>
            <a:off x="3328416" y="4672584"/>
            <a:ext cx="73152" cy="73152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44" name="Text 42"/>
          <p:cNvSpPr/>
          <p:nvPr/>
        </p:nvSpPr>
        <p:spPr>
          <a:xfrm>
            <a:off x="3547872" y="4658868"/>
            <a:ext cx="5577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94A3B8"/>
                </a:solidFill>
              </a:rPr>
              <a:t>Punto de partida del recorrido</a:t>
            </a:r>
            <a:endParaRPr lang="en-US" sz="680" dirty="0"/>
          </a:p>
        </p:txBody>
      </p:sp>
      <p:sp>
        <p:nvSpPr>
          <p:cNvPr id="46" name="Shape 43"/>
          <p:cNvSpPr/>
          <p:nvPr/>
        </p:nvSpPr>
        <p:spPr>
          <a:xfrm>
            <a:off x="2907792" y="4846320"/>
            <a:ext cx="6355080" cy="2743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pic>
        <p:nvPicPr>
          <p:cNvPr id="47" name="Picture 46" descr="6_inicio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0" y="4892040"/>
            <a:ext cx="6318504" cy="138074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 w="12700">
            <a:solidFill>
              <a:srgbClr val="F7FAFC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4" name="Shap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6111F"/>
          </a:solidFill>
          <a:ln w="12700">
            <a:solidFill>
              <a:srgbClr val="06111F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5" name="Text 3"/>
          <p:cNvSpPr/>
          <p:nvPr/>
        </p:nvSpPr>
        <p:spPr>
          <a:xfrm>
            <a:off x="566928" y="32004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059669"/>
                </a:solidFill>
              </a:rPr>
              <a:t>EL SISTEMA EN ACCIÓN</a:t>
            </a:r>
            <a:endParaRPr lang="en-US" sz="820" dirty="0"/>
          </a:p>
        </p:txBody>
      </p:sp>
      <p:sp>
        <p:nvSpPr>
          <p:cNvPr id="6" name="Text 4"/>
          <p:cNvSpPr/>
          <p:nvPr/>
        </p:nvSpPr>
        <p:spPr>
          <a:xfrm>
            <a:off x="566928" y="585216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Menú principal y carga de eventos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66928" y="1179576"/>
            <a:ext cx="11064240" cy="0"/>
          </a:xfrm>
          <a:prstGeom prst="line">
            <a:avLst/>
          </a:prstGeom>
          <a:noFill/>
          <a:ln w="12700">
            <a:solidFill>
              <a:srgbClr val="D8E2EE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8" name="Text 6"/>
          <p:cNvSpPr/>
          <p:nvPr/>
        </p:nvSpPr>
        <p:spPr>
          <a:xfrm>
            <a:off x="566928" y="6528816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4748B"/>
                </a:solidFill>
              </a:rPr>
              <a:t>Sistema de Gestión de Eventos · Paradigmas de la Programación · FP-UNA 2026</a:t>
            </a:r>
            <a:endParaRPr lang="en-US" sz="720" dirty="0"/>
          </a:p>
        </p:txBody>
      </p:sp>
      <p:sp>
        <p:nvSpPr>
          <p:cNvPr id="9" name="Text 7"/>
          <p:cNvSpPr/>
          <p:nvPr/>
        </p:nvSpPr>
        <p:spPr>
          <a:xfrm>
            <a:off x="11192256" y="64922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07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40080" y="1463040"/>
            <a:ext cx="5257800" cy="4251960"/>
          </a:xfrm>
          <a:prstGeom prst="roundRect">
            <a:avLst>
              <a:gd name="adj" fmla="val 1720"/>
            </a:avLst>
          </a:prstGeom>
          <a:solidFill>
            <a:srgbClr val="0E1726"/>
          </a:solidFill>
          <a:ln w="12700">
            <a:solidFill>
              <a:srgbClr val="162033"/>
            </a:solidFill>
            <a:prstDash val="solid"/>
          </a:ln>
          <a:effectLst>
            <a:outerShdw blurRad="15240" dist="11430" dir="2700000" algn="bl" rotWithShape="0">
              <a:srgbClr val="000000">
                <a:alpha val="24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1" name="Shape 9"/>
          <p:cNvSpPr/>
          <p:nvPr/>
        </p:nvSpPr>
        <p:spPr>
          <a:xfrm>
            <a:off x="640080" y="1463040"/>
            <a:ext cx="5257800" cy="292608"/>
          </a:xfrm>
          <a:prstGeom prst="rect">
            <a:avLst/>
          </a:prstGeom>
          <a:solidFill>
            <a:srgbClr val="0A1020"/>
          </a:solidFill>
          <a:ln w="12700">
            <a:solidFill>
              <a:srgbClr val="0A1020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2" name="Shape 10"/>
          <p:cNvSpPr/>
          <p:nvPr/>
        </p:nvSpPr>
        <p:spPr>
          <a:xfrm>
            <a:off x="786384" y="1563624"/>
            <a:ext cx="73152" cy="73152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3" name="Shape 11"/>
          <p:cNvSpPr/>
          <p:nvPr/>
        </p:nvSpPr>
        <p:spPr>
          <a:xfrm>
            <a:off x="923544" y="1563624"/>
            <a:ext cx="73152" cy="7315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4" name="Shape 12"/>
          <p:cNvSpPr/>
          <p:nvPr/>
        </p:nvSpPr>
        <p:spPr>
          <a:xfrm>
            <a:off x="1060704" y="1563624"/>
            <a:ext cx="73152" cy="73152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5" name="Text 13"/>
          <p:cNvSpPr/>
          <p:nvPr/>
        </p:nvSpPr>
        <p:spPr>
          <a:xfrm>
            <a:off x="1280160" y="1549908"/>
            <a:ext cx="4480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94A3B8"/>
                </a:solidFill>
              </a:rPr>
              <a:t>Menú principal</a:t>
            </a:r>
            <a:endParaRPr lang="en-US" sz="680" dirty="0"/>
          </a:p>
        </p:txBody>
      </p:sp>
      <p:sp>
        <p:nvSpPr>
          <p:cNvPr id="17" name="Shape 14"/>
          <p:cNvSpPr/>
          <p:nvPr/>
        </p:nvSpPr>
        <p:spPr>
          <a:xfrm>
            <a:off x="640080" y="1737360"/>
            <a:ext cx="5257800" cy="2743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8" name="Shape 15"/>
          <p:cNvSpPr/>
          <p:nvPr/>
        </p:nvSpPr>
        <p:spPr>
          <a:xfrm>
            <a:off x="6236208" y="146304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2700" dist="889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9" name="Shape 16"/>
          <p:cNvSpPr/>
          <p:nvPr/>
        </p:nvSpPr>
        <p:spPr>
          <a:xfrm>
            <a:off x="6236208" y="1463040"/>
            <a:ext cx="73152" cy="19659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0" name="Text 17"/>
          <p:cNvSpPr/>
          <p:nvPr/>
        </p:nvSpPr>
        <p:spPr>
          <a:xfrm>
            <a:off x="6464808" y="1627632"/>
            <a:ext cx="4919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Lo que se demuestra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6464808" y="2029968"/>
            <a:ext cx="4919472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• El flujo inicia con una agenda y un deporte</a:t>
            </a:r>
            <a:endParaRPr lang="en-US" sz="1020" dirty="0"/>
          </a:p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• El menú guía al usuario paso a paso</a:t>
            </a:r>
            <a:endParaRPr lang="en-US" sz="1020" dirty="0"/>
          </a:p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• Las opciones agrupan alta, consulta, venta y reportes</a:t>
            </a:r>
            <a:endParaRPr lang="en-US" sz="1020" dirty="0"/>
          </a:p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• La interacción es simple y reproducible en la demo</a:t>
            </a:r>
            <a:endParaRPr lang="en-US" sz="1020" dirty="0"/>
          </a:p>
        </p:txBody>
      </p:sp>
      <p:sp>
        <p:nvSpPr>
          <p:cNvPr id="22" name="Shape 19"/>
          <p:cNvSpPr/>
          <p:nvPr/>
        </p:nvSpPr>
        <p:spPr>
          <a:xfrm>
            <a:off x="6236208" y="3749040"/>
            <a:ext cx="5303520" cy="1810512"/>
          </a:xfrm>
          <a:prstGeom prst="roundRect">
            <a:avLst>
              <a:gd name="adj" fmla="val 4040"/>
            </a:avLst>
          </a:prstGeom>
          <a:solidFill>
            <a:srgbClr val="0E1726"/>
          </a:solidFill>
          <a:ln w="12700">
            <a:solidFill>
              <a:srgbClr val="162033"/>
            </a:solidFill>
            <a:prstDash val="solid"/>
          </a:ln>
          <a:effectLst>
            <a:outerShdw blurRad="15240" dist="11430" dir="2700000" algn="bl" rotWithShape="0">
              <a:srgbClr val="000000">
                <a:alpha val="24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23" name="Shape 20"/>
          <p:cNvSpPr/>
          <p:nvPr/>
        </p:nvSpPr>
        <p:spPr>
          <a:xfrm>
            <a:off x="6236208" y="3749040"/>
            <a:ext cx="5303520" cy="292608"/>
          </a:xfrm>
          <a:prstGeom prst="rect">
            <a:avLst/>
          </a:prstGeom>
          <a:solidFill>
            <a:srgbClr val="0A1020"/>
          </a:solidFill>
          <a:ln w="12700">
            <a:solidFill>
              <a:srgbClr val="0A1020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4" name="Shape 21"/>
          <p:cNvSpPr/>
          <p:nvPr/>
        </p:nvSpPr>
        <p:spPr>
          <a:xfrm>
            <a:off x="6382512" y="3849624"/>
            <a:ext cx="73152" cy="73152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5" name="Shape 22"/>
          <p:cNvSpPr/>
          <p:nvPr/>
        </p:nvSpPr>
        <p:spPr>
          <a:xfrm>
            <a:off x="6519672" y="3849624"/>
            <a:ext cx="73152" cy="7315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6" name="Shape 23"/>
          <p:cNvSpPr/>
          <p:nvPr/>
        </p:nvSpPr>
        <p:spPr>
          <a:xfrm>
            <a:off x="6656832" y="3849624"/>
            <a:ext cx="73152" cy="73152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7" name="Text 24"/>
          <p:cNvSpPr/>
          <p:nvPr/>
        </p:nvSpPr>
        <p:spPr>
          <a:xfrm>
            <a:off x="6876288" y="3835908"/>
            <a:ext cx="4526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94A3B8"/>
                </a:solidFill>
              </a:rPr>
              <a:t>Alta y validación</a:t>
            </a:r>
            <a:endParaRPr lang="en-US" sz="680" dirty="0"/>
          </a:p>
        </p:txBody>
      </p:sp>
      <p:sp>
        <p:nvSpPr>
          <p:cNvPr id="29" name="Shape 25"/>
          <p:cNvSpPr/>
          <p:nvPr/>
        </p:nvSpPr>
        <p:spPr>
          <a:xfrm>
            <a:off x="6236208" y="4023360"/>
            <a:ext cx="5303520" cy="274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pic>
        <p:nvPicPr>
          <p:cNvPr id="30" name="Picture 29" descr="7_mockup_menu_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1783080"/>
            <a:ext cx="5221224" cy="3895344"/>
          </a:xfrm>
          <a:prstGeom prst="rect">
            <a:avLst/>
          </a:prstGeom>
        </p:spPr>
      </p:pic>
      <p:pic>
        <p:nvPicPr>
          <p:cNvPr id="31" name="Picture 30" descr="7_mockup_alta_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4496" y="4069080"/>
            <a:ext cx="5266944" cy="145389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 w="12700">
            <a:solidFill>
              <a:srgbClr val="F7FAFC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4" name="Shap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6111F"/>
          </a:solidFill>
          <a:ln w="12700">
            <a:solidFill>
              <a:srgbClr val="06111F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5" name="Text 3"/>
          <p:cNvSpPr/>
          <p:nvPr/>
        </p:nvSpPr>
        <p:spPr>
          <a:xfrm>
            <a:off x="566928" y="32004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059669"/>
                </a:solidFill>
              </a:rPr>
              <a:t>CONTROL DE CUPOS</a:t>
            </a:r>
            <a:endParaRPr lang="en-US" sz="820" dirty="0"/>
          </a:p>
        </p:txBody>
      </p:sp>
      <p:sp>
        <p:nvSpPr>
          <p:cNvPr id="6" name="Text 4"/>
          <p:cNvSpPr/>
          <p:nvPr/>
        </p:nvSpPr>
        <p:spPr>
          <a:xfrm>
            <a:off x="566928" y="585216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Venta aceptada y sobreventa rechazada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66928" y="1179576"/>
            <a:ext cx="11064240" cy="0"/>
          </a:xfrm>
          <a:prstGeom prst="line">
            <a:avLst/>
          </a:prstGeom>
          <a:noFill/>
          <a:ln w="12700">
            <a:solidFill>
              <a:srgbClr val="D8E2EE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8" name="Text 6"/>
          <p:cNvSpPr/>
          <p:nvPr/>
        </p:nvSpPr>
        <p:spPr>
          <a:xfrm>
            <a:off x="566928" y="6528816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4748B"/>
                </a:solidFill>
              </a:rPr>
              <a:t>Sistema de Gestión de Eventos · Paradigmas de la Programación · FP-UNA 2026</a:t>
            </a:r>
            <a:endParaRPr lang="en-US" sz="720" dirty="0"/>
          </a:p>
        </p:txBody>
      </p:sp>
      <p:sp>
        <p:nvSpPr>
          <p:cNvPr id="9" name="Text 7"/>
          <p:cNvSpPr/>
          <p:nvPr/>
        </p:nvSpPr>
        <p:spPr>
          <a:xfrm>
            <a:off x="11192256" y="64922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08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731520" y="1481328"/>
            <a:ext cx="5623560" cy="3474720"/>
          </a:xfrm>
          <a:prstGeom prst="roundRect">
            <a:avLst>
              <a:gd name="adj" fmla="val 2105"/>
            </a:avLst>
          </a:prstGeom>
          <a:solidFill>
            <a:srgbClr val="0E1726"/>
          </a:solidFill>
          <a:ln w="12700">
            <a:solidFill>
              <a:srgbClr val="162033"/>
            </a:solidFill>
            <a:prstDash val="solid"/>
          </a:ln>
          <a:effectLst>
            <a:outerShdw blurRad="15240" dist="11430" dir="2700000" algn="bl" rotWithShape="0">
              <a:srgbClr val="000000">
                <a:alpha val="24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1" name="Shape 9"/>
          <p:cNvSpPr/>
          <p:nvPr/>
        </p:nvSpPr>
        <p:spPr>
          <a:xfrm>
            <a:off x="731520" y="1481328"/>
            <a:ext cx="5623560" cy="292608"/>
          </a:xfrm>
          <a:prstGeom prst="rect">
            <a:avLst/>
          </a:prstGeom>
          <a:solidFill>
            <a:srgbClr val="0A1020"/>
          </a:solidFill>
          <a:ln w="12700">
            <a:solidFill>
              <a:srgbClr val="0A1020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2" name="Shape 10"/>
          <p:cNvSpPr/>
          <p:nvPr/>
        </p:nvSpPr>
        <p:spPr>
          <a:xfrm>
            <a:off x="877824" y="1581912"/>
            <a:ext cx="73152" cy="73152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3" name="Shape 11"/>
          <p:cNvSpPr/>
          <p:nvPr/>
        </p:nvSpPr>
        <p:spPr>
          <a:xfrm>
            <a:off x="1014984" y="1581912"/>
            <a:ext cx="73152" cy="7315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4" name="Shape 12"/>
          <p:cNvSpPr/>
          <p:nvPr/>
        </p:nvSpPr>
        <p:spPr>
          <a:xfrm>
            <a:off x="1152144" y="1581912"/>
            <a:ext cx="73152" cy="73152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5" name="Text 13"/>
          <p:cNvSpPr/>
          <p:nvPr/>
        </p:nvSpPr>
        <p:spPr>
          <a:xfrm>
            <a:off x="1371600" y="1568196"/>
            <a:ext cx="4846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94A3B8"/>
                </a:solidFill>
              </a:rPr>
              <a:t>Venta de entradas</a:t>
            </a:r>
            <a:endParaRPr lang="en-US" sz="680" dirty="0"/>
          </a:p>
        </p:txBody>
      </p:sp>
      <p:sp>
        <p:nvSpPr>
          <p:cNvPr id="17" name="Shape 14"/>
          <p:cNvSpPr/>
          <p:nvPr/>
        </p:nvSpPr>
        <p:spPr>
          <a:xfrm>
            <a:off x="731520" y="1755648"/>
            <a:ext cx="5623560" cy="274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8" name="Shape 15"/>
          <p:cNvSpPr/>
          <p:nvPr/>
        </p:nvSpPr>
        <p:spPr>
          <a:xfrm>
            <a:off x="6784848" y="1481328"/>
            <a:ext cx="448056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2700" dist="889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9" name="Shape 16"/>
          <p:cNvSpPr/>
          <p:nvPr/>
        </p:nvSpPr>
        <p:spPr>
          <a:xfrm>
            <a:off x="6784848" y="1481328"/>
            <a:ext cx="73152" cy="16459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0" name="Text 17"/>
          <p:cNvSpPr/>
          <p:nvPr/>
        </p:nvSpPr>
        <p:spPr>
          <a:xfrm>
            <a:off x="7013448" y="1645920"/>
            <a:ext cx="40965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Regla de negocio visible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013448" y="2048256"/>
            <a:ext cx="4096512" cy="960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</a:rPr>
              <a:t>La operación de venta solo se confirma si hay lugares disponibles. Si la cantidad supera el cupo restante, el sistema informa el rechazo y conserva el estado.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903720" y="3474720"/>
            <a:ext cx="182880" cy="18288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3" name="Text 20"/>
          <p:cNvSpPr/>
          <p:nvPr/>
        </p:nvSpPr>
        <p:spPr>
          <a:xfrm>
            <a:off x="6931152" y="3497580"/>
            <a:ext cx="1280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✓</a:t>
            </a:r>
            <a:endParaRPr lang="en-US" sz="700" dirty="0"/>
          </a:p>
        </p:txBody>
      </p:sp>
      <p:sp>
        <p:nvSpPr>
          <p:cNvPr id="24" name="Text 21"/>
          <p:cNvSpPr/>
          <p:nvPr/>
        </p:nvSpPr>
        <p:spPr>
          <a:xfrm>
            <a:off x="7205472" y="3456432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Venta válida: 150 entradas aceptadas.</a:t>
            </a:r>
            <a:endParaRPr lang="en-US" sz="1020" dirty="0"/>
          </a:p>
        </p:txBody>
      </p:sp>
      <p:sp>
        <p:nvSpPr>
          <p:cNvPr id="25" name="Shape 22"/>
          <p:cNvSpPr/>
          <p:nvPr/>
        </p:nvSpPr>
        <p:spPr>
          <a:xfrm>
            <a:off x="6903720" y="3886200"/>
            <a:ext cx="182880" cy="1828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6" name="Text 23"/>
          <p:cNvSpPr/>
          <p:nvPr/>
        </p:nvSpPr>
        <p:spPr>
          <a:xfrm>
            <a:off x="6931152" y="3909060"/>
            <a:ext cx="1280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✓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7205472" y="3867912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Disponibilidad actualizada: quedan 50 lugares.</a:t>
            </a:r>
            <a:endParaRPr lang="en-US" sz="1020" dirty="0"/>
          </a:p>
        </p:txBody>
      </p:sp>
      <p:sp>
        <p:nvSpPr>
          <p:cNvPr id="28" name="Shape 25"/>
          <p:cNvSpPr/>
          <p:nvPr/>
        </p:nvSpPr>
        <p:spPr>
          <a:xfrm>
            <a:off x="6903720" y="4297680"/>
            <a:ext cx="182880" cy="18288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9" name="Text 26"/>
          <p:cNvSpPr/>
          <p:nvPr/>
        </p:nvSpPr>
        <p:spPr>
          <a:xfrm>
            <a:off x="6931152" y="4320540"/>
            <a:ext cx="1280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✓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7205472" y="4279392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Venta excedida: operación rechazada.</a:t>
            </a:r>
            <a:endParaRPr lang="en-US" sz="1020" dirty="0"/>
          </a:p>
        </p:txBody>
      </p:sp>
      <p:sp>
        <p:nvSpPr>
          <p:cNvPr id="31" name="Shape 28"/>
          <p:cNvSpPr/>
          <p:nvPr/>
        </p:nvSpPr>
        <p:spPr>
          <a:xfrm>
            <a:off x="6903720" y="4709160"/>
            <a:ext cx="182880" cy="1828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2" name="Text 29"/>
          <p:cNvSpPr/>
          <p:nvPr/>
        </p:nvSpPr>
        <p:spPr>
          <a:xfrm>
            <a:off x="6931152" y="4732020"/>
            <a:ext cx="1280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✓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7205472" y="4690872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El sistema no se rompe ante entradas inválidas.</a:t>
            </a:r>
            <a:endParaRPr lang="en-US" sz="1020" dirty="0"/>
          </a:p>
        </p:txBody>
      </p:sp>
      <p:sp>
        <p:nvSpPr>
          <p:cNvPr id="34" name="Text 31"/>
          <p:cNvSpPr/>
          <p:nvPr/>
        </p:nvSpPr>
        <p:spPr>
          <a:xfrm>
            <a:off x="914400" y="566928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pic>
        <p:nvPicPr>
          <p:cNvPr id="35" name="Picture 34" descr="8_mockup_venta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1801368"/>
            <a:ext cx="5586984" cy="311810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 w="12700">
            <a:solidFill>
              <a:srgbClr val="F7FAFC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4" name="Shap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6111F"/>
          </a:solidFill>
          <a:ln w="12700">
            <a:solidFill>
              <a:srgbClr val="06111F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5" name="Text 3"/>
          <p:cNvSpPr/>
          <p:nvPr/>
        </p:nvSpPr>
        <p:spPr>
          <a:xfrm>
            <a:off x="566928" y="32004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059669"/>
                </a:solidFill>
              </a:rPr>
              <a:t>INDICADORES Y SEGUIMIENTO</a:t>
            </a:r>
            <a:endParaRPr lang="en-US" sz="820" dirty="0"/>
          </a:p>
        </p:txBody>
      </p:sp>
      <p:sp>
        <p:nvSpPr>
          <p:cNvPr id="6" name="Text 4"/>
          <p:cNvSpPr/>
          <p:nvPr/>
        </p:nvSpPr>
        <p:spPr>
          <a:xfrm>
            <a:off x="566928" y="585216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agenda se transforma en información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66928" y="1179576"/>
            <a:ext cx="11064240" cy="0"/>
          </a:xfrm>
          <a:prstGeom prst="line">
            <a:avLst/>
          </a:prstGeom>
          <a:noFill/>
          <a:ln w="12700">
            <a:solidFill>
              <a:srgbClr val="D8E2EE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8" name="Text 6"/>
          <p:cNvSpPr/>
          <p:nvPr/>
        </p:nvSpPr>
        <p:spPr>
          <a:xfrm>
            <a:off x="566928" y="6528816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4748B"/>
                </a:solidFill>
              </a:rPr>
              <a:t>Sistema de Gestión de Eventos · Paradigmas de la Programación · FP-UNA 2026</a:t>
            </a:r>
            <a:endParaRPr lang="en-US" sz="720" dirty="0"/>
          </a:p>
        </p:txBody>
      </p:sp>
      <p:sp>
        <p:nvSpPr>
          <p:cNvPr id="9" name="Text 7"/>
          <p:cNvSpPr/>
          <p:nvPr/>
        </p:nvSpPr>
        <p:spPr>
          <a:xfrm>
            <a:off x="11192256" y="64922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09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731520" y="1481328"/>
            <a:ext cx="5394960" cy="3611880"/>
          </a:xfrm>
          <a:prstGeom prst="roundRect">
            <a:avLst>
              <a:gd name="adj" fmla="val 2025"/>
            </a:avLst>
          </a:prstGeom>
          <a:solidFill>
            <a:srgbClr val="0E1726"/>
          </a:solidFill>
          <a:ln w="12700">
            <a:solidFill>
              <a:srgbClr val="162033"/>
            </a:solidFill>
            <a:prstDash val="solid"/>
          </a:ln>
          <a:effectLst>
            <a:outerShdw blurRad="15240" dist="11430" dir="2700000" algn="bl" rotWithShape="0">
              <a:srgbClr val="000000">
                <a:alpha val="24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1" name="Shape 9"/>
          <p:cNvSpPr/>
          <p:nvPr/>
        </p:nvSpPr>
        <p:spPr>
          <a:xfrm>
            <a:off x="731520" y="1481328"/>
            <a:ext cx="5394960" cy="292608"/>
          </a:xfrm>
          <a:prstGeom prst="rect">
            <a:avLst/>
          </a:prstGeom>
          <a:solidFill>
            <a:srgbClr val="0A1020"/>
          </a:solidFill>
          <a:ln w="12700">
            <a:solidFill>
              <a:srgbClr val="0A1020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2" name="Shape 10"/>
          <p:cNvSpPr/>
          <p:nvPr/>
        </p:nvSpPr>
        <p:spPr>
          <a:xfrm>
            <a:off x="877824" y="1581912"/>
            <a:ext cx="73152" cy="73152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3" name="Shape 11"/>
          <p:cNvSpPr/>
          <p:nvPr/>
        </p:nvSpPr>
        <p:spPr>
          <a:xfrm>
            <a:off x="1014984" y="1581912"/>
            <a:ext cx="73152" cy="7315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4" name="Shape 12"/>
          <p:cNvSpPr/>
          <p:nvPr/>
        </p:nvSpPr>
        <p:spPr>
          <a:xfrm>
            <a:off x="1152144" y="1581912"/>
            <a:ext cx="73152" cy="73152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5" name="Text 13"/>
          <p:cNvSpPr/>
          <p:nvPr/>
        </p:nvSpPr>
        <p:spPr>
          <a:xfrm>
            <a:off x="1371600" y="1568196"/>
            <a:ext cx="46177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94A3B8"/>
                </a:solidFill>
              </a:rPr>
              <a:t>Estadísticas de la colección</a:t>
            </a:r>
            <a:endParaRPr lang="en-US" sz="680" dirty="0"/>
          </a:p>
        </p:txBody>
      </p:sp>
      <p:sp>
        <p:nvSpPr>
          <p:cNvPr id="17" name="Shape 14"/>
          <p:cNvSpPr/>
          <p:nvPr/>
        </p:nvSpPr>
        <p:spPr>
          <a:xfrm>
            <a:off x="731520" y="1755648"/>
            <a:ext cx="5394960" cy="2743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8" name="Shape 15"/>
          <p:cNvSpPr/>
          <p:nvPr/>
        </p:nvSpPr>
        <p:spPr>
          <a:xfrm>
            <a:off x="6629400" y="162763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0160" dist="6985" dir="27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9" name="Text 16"/>
          <p:cNvSpPr/>
          <p:nvPr/>
        </p:nvSpPr>
        <p:spPr>
          <a:xfrm>
            <a:off x="6793992" y="176479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59669"/>
                </a:solidFill>
              </a:rPr>
              <a:t>2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766560" y="2203704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Eventos totales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9098280" y="162763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0160" dist="6985" dir="27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22" name="Text 19"/>
          <p:cNvSpPr/>
          <p:nvPr/>
        </p:nvSpPr>
        <p:spPr>
          <a:xfrm>
            <a:off x="9262872" y="176479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D4ED8"/>
                </a:solidFill>
              </a:rPr>
              <a:t>1 / 1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9235440" y="2203704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Confirmado / pendiente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6629400" y="29077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0160" dist="6985" dir="27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25" name="Text 22"/>
          <p:cNvSpPr/>
          <p:nvPr/>
        </p:nvSpPr>
        <p:spPr>
          <a:xfrm>
            <a:off x="6793992" y="30449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59E0B"/>
                </a:solidFill>
              </a:rPr>
              <a:t>150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6766560" y="3483864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Entradas vendidas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9098280" y="29077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0160" dist="6985" dir="27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28" name="Text 25"/>
          <p:cNvSpPr/>
          <p:nvPr/>
        </p:nvSpPr>
        <p:spPr>
          <a:xfrm>
            <a:off x="9262872" y="30449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7C3AED"/>
                </a:solidFill>
              </a:rPr>
              <a:t>54%</a:t>
            </a:r>
            <a:endParaRPr lang="en-US" sz="2000" dirty="0"/>
          </a:p>
        </p:txBody>
      </p:sp>
      <p:sp>
        <p:nvSpPr>
          <p:cNvPr id="29" name="Text 26"/>
          <p:cNvSpPr/>
          <p:nvPr/>
        </p:nvSpPr>
        <p:spPr>
          <a:xfrm>
            <a:off x="9235440" y="3483864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Ocupación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6629400" y="4315968"/>
            <a:ext cx="452628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2700" dist="889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31" name="Shape 28"/>
          <p:cNvSpPr/>
          <p:nvPr/>
        </p:nvSpPr>
        <p:spPr>
          <a:xfrm>
            <a:off x="6629400" y="4315968"/>
            <a:ext cx="73152" cy="107899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2" name="Text 29"/>
          <p:cNvSpPr/>
          <p:nvPr/>
        </p:nvSpPr>
        <p:spPr>
          <a:xfrm>
            <a:off x="6858000" y="4480560"/>
            <a:ext cx="41422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Información mostrada</a:t>
            </a:r>
            <a:endParaRPr lang="en-US" sz="1350" dirty="0"/>
          </a:p>
        </p:txBody>
      </p:sp>
      <p:sp>
        <p:nvSpPr>
          <p:cNvPr id="33" name="Text 30"/>
          <p:cNvSpPr/>
          <p:nvPr/>
        </p:nvSpPr>
        <p:spPr>
          <a:xfrm>
            <a:off x="6858000" y="4882896"/>
            <a:ext cx="4142232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30" dirty="0">
                <a:solidFill>
                  <a:srgbClr val="0F172A"/>
                </a:solidFill>
              </a:rPr>
              <a:t>Además de los totales, la salida incluye categorías presentes y reglamento del deporte de especialización.</a:t>
            </a:r>
            <a:endParaRPr lang="en-US" sz="1030" dirty="0"/>
          </a:p>
        </p:txBody>
      </p:sp>
      <p:pic>
        <p:nvPicPr>
          <p:cNvPr id="34" name="Picture 33" descr="9_mockup_stats_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1801368"/>
            <a:ext cx="5358384" cy="32552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 w="12700">
            <a:solidFill>
              <a:srgbClr val="F7FAFC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4" name="Shap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6111F"/>
          </a:solidFill>
          <a:ln w="12700">
            <a:solidFill>
              <a:srgbClr val="06111F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5" name="Text 3"/>
          <p:cNvSpPr/>
          <p:nvPr/>
        </p:nvSpPr>
        <p:spPr>
          <a:xfrm>
            <a:off x="566928" y="32004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059669"/>
                </a:solidFill>
              </a:rPr>
              <a:t>CALIDAD DE DATOS</a:t>
            </a:r>
            <a:endParaRPr lang="en-US" sz="820" dirty="0"/>
          </a:p>
        </p:txBody>
      </p:sp>
      <p:sp>
        <p:nvSpPr>
          <p:cNvPr id="6" name="Text 4"/>
          <p:cNvSpPr/>
          <p:nvPr/>
        </p:nvSpPr>
        <p:spPr>
          <a:xfrm>
            <a:off x="566928" y="585216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Validaciones que protegen el flujo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66928" y="1179576"/>
            <a:ext cx="11064240" cy="0"/>
          </a:xfrm>
          <a:prstGeom prst="line">
            <a:avLst/>
          </a:prstGeom>
          <a:noFill/>
          <a:ln w="12700">
            <a:solidFill>
              <a:srgbClr val="D8E2EE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8" name="Text 6"/>
          <p:cNvSpPr/>
          <p:nvPr/>
        </p:nvSpPr>
        <p:spPr>
          <a:xfrm>
            <a:off x="566928" y="6528816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4748B"/>
                </a:solidFill>
              </a:rPr>
              <a:t>Sistema de Gestión de Eventos · Paradigmas de la Programación · FP-UNA 2026</a:t>
            </a:r>
            <a:endParaRPr lang="en-US" sz="720" dirty="0"/>
          </a:p>
        </p:txBody>
      </p:sp>
      <p:sp>
        <p:nvSpPr>
          <p:cNvPr id="9" name="Text 7"/>
          <p:cNvSpPr/>
          <p:nvPr/>
        </p:nvSpPr>
        <p:spPr>
          <a:xfrm>
            <a:off x="11192256" y="64922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10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58368" y="1417320"/>
            <a:ext cx="33832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2700" dist="889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1" name="Shape 9"/>
          <p:cNvSpPr/>
          <p:nvPr/>
        </p:nvSpPr>
        <p:spPr>
          <a:xfrm>
            <a:off x="658368" y="1417320"/>
            <a:ext cx="73152" cy="18745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2" name="Text 10"/>
          <p:cNvSpPr/>
          <p:nvPr/>
        </p:nvSpPr>
        <p:spPr>
          <a:xfrm>
            <a:off x="886968" y="1581912"/>
            <a:ext cx="29992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Formato de fecha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86968" y="1984248"/>
            <a:ext cx="2999232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Solo se aceptan fechas válidas en formato AAAA-MM-DD. Una fecha inexistente se rechaza y se vuelve a solicitar.</a:t>
            </a:r>
            <a:endParaRPr lang="en-US" sz="1020" dirty="0"/>
          </a:p>
        </p:txBody>
      </p:sp>
      <p:sp>
        <p:nvSpPr>
          <p:cNvPr id="14" name="Shape 12"/>
          <p:cNvSpPr/>
          <p:nvPr/>
        </p:nvSpPr>
        <p:spPr>
          <a:xfrm>
            <a:off x="4407408" y="1417320"/>
            <a:ext cx="33832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2700" dist="889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5" name="Shape 13"/>
          <p:cNvSpPr/>
          <p:nvPr/>
        </p:nvSpPr>
        <p:spPr>
          <a:xfrm>
            <a:off x="4407408" y="1417320"/>
            <a:ext cx="73152" cy="18745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6" name="Text 14"/>
          <p:cNvSpPr/>
          <p:nvPr/>
        </p:nvSpPr>
        <p:spPr>
          <a:xfrm>
            <a:off x="4636008" y="1581912"/>
            <a:ext cx="29992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Cupo positivo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636008" y="1984248"/>
            <a:ext cx="2999232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El cupo máximo debe ser mayor a cero para evitar eventos sin capacidad válida.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8156448" y="1417320"/>
            <a:ext cx="33832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2700" dist="889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9" name="Shape 17"/>
          <p:cNvSpPr/>
          <p:nvPr/>
        </p:nvSpPr>
        <p:spPr>
          <a:xfrm>
            <a:off x="8156448" y="1417320"/>
            <a:ext cx="73152" cy="18745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0" name="Text 18"/>
          <p:cNvSpPr/>
          <p:nvPr/>
        </p:nvSpPr>
        <p:spPr>
          <a:xfrm>
            <a:off x="8385048" y="1581912"/>
            <a:ext cx="29992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Venta segura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385048" y="1984248"/>
            <a:ext cx="2999232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La venta de entradas no puede superar los lugares disponibles. La sobreventa queda bloqueada.</a:t>
            </a:r>
            <a:endParaRPr lang="en-US" sz="1020" dirty="0"/>
          </a:p>
        </p:txBody>
      </p:sp>
      <p:sp>
        <p:nvSpPr>
          <p:cNvPr id="22" name="Shape 20"/>
          <p:cNvSpPr/>
          <p:nvPr/>
        </p:nvSpPr>
        <p:spPr>
          <a:xfrm>
            <a:off x="768096" y="3730752"/>
            <a:ext cx="4800600" cy="1645920"/>
          </a:xfrm>
          <a:prstGeom prst="roundRect">
            <a:avLst>
              <a:gd name="adj" fmla="val 4444"/>
            </a:avLst>
          </a:prstGeom>
          <a:solidFill>
            <a:srgbClr val="0E1726"/>
          </a:solidFill>
          <a:ln w="12700">
            <a:solidFill>
              <a:srgbClr val="162033"/>
            </a:solidFill>
            <a:prstDash val="solid"/>
          </a:ln>
          <a:effectLst>
            <a:outerShdw blurRad="15240" dist="11430" dir="2700000" algn="bl" rotWithShape="0">
              <a:srgbClr val="000000">
                <a:alpha val="24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23" name="Shape 21"/>
          <p:cNvSpPr/>
          <p:nvPr/>
        </p:nvSpPr>
        <p:spPr>
          <a:xfrm>
            <a:off x="768096" y="3730752"/>
            <a:ext cx="4800600" cy="292608"/>
          </a:xfrm>
          <a:prstGeom prst="rect">
            <a:avLst/>
          </a:prstGeom>
          <a:solidFill>
            <a:srgbClr val="0A1020"/>
          </a:solidFill>
          <a:ln w="12700">
            <a:solidFill>
              <a:srgbClr val="0A1020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4" name="Shape 22"/>
          <p:cNvSpPr/>
          <p:nvPr/>
        </p:nvSpPr>
        <p:spPr>
          <a:xfrm>
            <a:off x="914400" y="3831336"/>
            <a:ext cx="73152" cy="73152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5" name="Shape 23"/>
          <p:cNvSpPr/>
          <p:nvPr/>
        </p:nvSpPr>
        <p:spPr>
          <a:xfrm>
            <a:off x="1051560" y="3831336"/>
            <a:ext cx="73152" cy="7315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6" name="Shape 24"/>
          <p:cNvSpPr/>
          <p:nvPr/>
        </p:nvSpPr>
        <p:spPr>
          <a:xfrm>
            <a:off x="1188720" y="3831336"/>
            <a:ext cx="73152" cy="73152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7" name="Text 25"/>
          <p:cNvSpPr/>
          <p:nvPr/>
        </p:nvSpPr>
        <p:spPr>
          <a:xfrm>
            <a:off x="1408176" y="3817620"/>
            <a:ext cx="40233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94A3B8"/>
                </a:solidFill>
              </a:rPr>
              <a:t>Rechazo de fecha inválida</a:t>
            </a:r>
            <a:endParaRPr lang="en-US" sz="680" dirty="0"/>
          </a:p>
        </p:txBody>
      </p:sp>
      <p:sp>
        <p:nvSpPr>
          <p:cNvPr id="29" name="Shape 26"/>
          <p:cNvSpPr/>
          <p:nvPr/>
        </p:nvSpPr>
        <p:spPr>
          <a:xfrm>
            <a:off x="768096" y="4005072"/>
            <a:ext cx="4800600" cy="2743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0" name="Shape 27"/>
          <p:cNvSpPr/>
          <p:nvPr/>
        </p:nvSpPr>
        <p:spPr>
          <a:xfrm>
            <a:off x="6080760" y="3730752"/>
            <a:ext cx="4800600" cy="1645920"/>
          </a:xfrm>
          <a:prstGeom prst="roundRect">
            <a:avLst>
              <a:gd name="adj" fmla="val 4444"/>
            </a:avLst>
          </a:prstGeom>
          <a:solidFill>
            <a:srgbClr val="0E1726"/>
          </a:solidFill>
          <a:ln w="12700">
            <a:solidFill>
              <a:srgbClr val="162033"/>
            </a:solidFill>
            <a:prstDash val="solid"/>
          </a:ln>
          <a:effectLst>
            <a:outerShdw blurRad="15240" dist="11430" dir="2700000" algn="bl" rotWithShape="0">
              <a:srgbClr val="000000">
                <a:alpha val="24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31" name="Shape 28"/>
          <p:cNvSpPr/>
          <p:nvPr/>
        </p:nvSpPr>
        <p:spPr>
          <a:xfrm>
            <a:off x="6080760" y="3730752"/>
            <a:ext cx="4800600" cy="292608"/>
          </a:xfrm>
          <a:prstGeom prst="rect">
            <a:avLst/>
          </a:prstGeom>
          <a:solidFill>
            <a:srgbClr val="0A1020"/>
          </a:solidFill>
          <a:ln w="12700">
            <a:solidFill>
              <a:srgbClr val="0A1020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2" name="Shape 29"/>
          <p:cNvSpPr/>
          <p:nvPr/>
        </p:nvSpPr>
        <p:spPr>
          <a:xfrm>
            <a:off x="6227064" y="3831336"/>
            <a:ext cx="73152" cy="73152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3" name="Shape 30"/>
          <p:cNvSpPr/>
          <p:nvPr/>
        </p:nvSpPr>
        <p:spPr>
          <a:xfrm>
            <a:off x="6364224" y="3831336"/>
            <a:ext cx="73152" cy="7315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4" name="Shape 31"/>
          <p:cNvSpPr/>
          <p:nvPr/>
        </p:nvSpPr>
        <p:spPr>
          <a:xfrm>
            <a:off x="6501384" y="3831336"/>
            <a:ext cx="73152" cy="73152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5" name="Text 32"/>
          <p:cNvSpPr/>
          <p:nvPr/>
        </p:nvSpPr>
        <p:spPr>
          <a:xfrm>
            <a:off x="6720840" y="3817620"/>
            <a:ext cx="40233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94A3B8"/>
                </a:solidFill>
              </a:rPr>
              <a:t>Rechazo de venta excedida</a:t>
            </a:r>
            <a:endParaRPr lang="en-US" sz="680" dirty="0"/>
          </a:p>
        </p:txBody>
      </p:sp>
      <p:sp>
        <p:nvSpPr>
          <p:cNvPr id="37" name="Shape 33"/>
          <p:cNvSpPr/>
          <p:nvPr/>
        </p:nvSpPr>
        <p:spPr>
          <a:xfrm>
            <a:off x="6080760" y="4005072"/>
            <a:ext cx="4800600" cy="2743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8" name="Text 34"/>
          <p:cNvSpPr/>
          <p:nvPr/>
        </p:nvSpPr>
        <p:spPr>
          <a:xfrm>
            <a:off x="82296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pic>
        <p:nvPicPr>
          <p:cNvPr id="39" name="Picture 38" descr="10_mockup_alta_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" y="4050792"/>
            <a:ext cx="4764024" cy="1289304"/>
          </a:xfrm>
          <a:prstGeom prst="rect">
            <a:avLst/>
          </a:prstGeom>
        </p:spPr>
      </p:pic>
      <p:pic>
        <p:nvPicPr>
          <p:cNvPr id="40" name="Picture 39" descr="10_mockup_venta_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9048" y="4050792"/>
            <a:ext cx="4764024" cy="12893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 w="12700">
            <a:solidFill>
              <a:srgbClr val="F7FAFC"/>
            </a:solidFill>
            <a:prstDash val="solid"/>
          </a:ln>
        </p:spPr>
        <p:txBody>
          <a:bodyPr/>
          <a:lstStyle/>
          <a:p>
            <a:endParaRPr lang="es-PY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4" name="Shap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6111F"/>
          </a:solidFill>
          <a:ln w="12700">
            <a:solidFill>
              <a:srgbClr val="06111F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5" name="Text 3"/>
          <p:cNvSpPr/>
          <p:nvPr/>
        </p:nvSpPr>
        <p:spPr>
          <a:xfrm>
            <a:off x="566928" y="32004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059669"/>
                </a:solidFill>
              </a:rPr>
              <a:t>CONSTRUCCIÓN A ALTO NIVEL</a:t>
            </a:r>
            <a:endParaRPr lang="en-US" sz="820" dirty="0"/>
          </a:p>
        </p:txBody>
      </p:sp>
      <p:sp>
        <p:nvSpPr>
          <p:cNvPr id="6" name="Text 4"/>
          <p:cNvSpPr/>
          <p:nvPr/>
        </p:nvSpPr>
        <p:spPr>
          <a:xfrm>
            <a:off x="566928" y="585216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 err="1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Cómo</a:t>
            </a: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está organizado para crecer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66928" y="1179576"/>
            <a:ext cx="11064240" cy="0"/>
          </a:xfrm>
          <a:prstGeom prst="line">
            <a:avLst/>
          </a:prstGeom>
          <a:noFill/>
          <a:ln w="12700">
            <a:solidFill>
              <a:srgbClr val="D8E2EE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8" name="Text 6"/>
          <p:cNvSpPr/>
          <p:nvPr/>
        </p:nvSpPr>
        <p:spPr>
          <a:xfrm>
            <a:off x="566928" y="6528816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4748B"/>
                </a:solidFill>
              </a:rPr>
              <a:t>Sistema de Gestión de Eventos · Paradigmas de la Programación · FP-UNA 2026</a:t>
            </a:r>
            <a:endParaRPr lang="en-US" sz="720" dirty="0"/>
          </a:p>
        </p:txBody>
      </p:sp>
      <p:sp>
        <p:nvSpPr>
          <p:cNvPr id="9" name="Text 7"/>
          <p:cNvSpPr/>
          <p:nvPr/>
        </p:nvSpPr>
        <p:spPr>
          <a:xfrm>
            <a:off x="11192256" y="64922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11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58368" y="1444752"/>
            <a:ext cx="324612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2700" dist="889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1" name="Shape 9"/>
          <p:cNvSpPr/>
          <p:nvPr/>
        </p:nvSpPr>
        <p:spPr>
          <a:xfrm>
            <a:off x="658368" y="1444752"/>
            <a:ext cx="73152" cy="15087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2" name="Text 10"/>
          <p:cNvSpPr/>
          <p:nvPr/>
        </p:nvSpPr>
        <p:spPr>
          <a:xfrm>
            <a:off x="886968" y="1609344"/>
            <a:ext cx="28620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Interfaz de consola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86968" y="2011680"/>
            <a:ext cx="2862072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Capa de interacción: muestra el menú, pide datos y presenta los resultados al usuario.</a:t>
            </a:r>
            <a:endParaRPr lang="en-US" sz="1020" dirty="0"/>
          </a:p>
        </p:txBody>
      </p:sp>
      <p:sp>
        <p:nvSpPr>
          <p:cNvPr id="14" name="Shape 12"/>
          <p:cNvSpPr/>
          <p:nvPr/>
        </p:nvSpPr>
        <p:spPr>
          <a:xfrm>
            <a:off x="4471416" y="1444752"/>
            <a:ext cx="324612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2700" dist="889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5" name="Shape 13"/>
          <p:cNvSpPr/>
          <p:nvPr/>
        </p:nvSpPr>
        <p:spPr>
          <a:xfrm>
            <a:off x="4471416" y="1444752"/>
            <a:ext cx="73152" cy="15087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6" name="Text 14"/>
          <p:cNvSpPr/>
          <p:nvPr/>
        </p:nvSpPr>
        <p:spPr>
          <a:xfrm>
            <a:off x="4700016" y="1609344"/>
            <a:ext cx="28620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Motor de gestión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700016" y="2011680"/>
            <a:ext cx="2862072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Capa central: administra eventos, cupos, estados, ventas y estadísticas.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8284464" y="1444752"/>
            <a:ext cx="324612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5EAF0"/>
            </a:solidFill>
            <a:prstDash val="solid"/>
          </a:ln>
          <a:effectLst>
            <a:outerShdw blurRad="12700" dist="889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9" name="Shape 17"/>
          <p:cNvSpPr/>
          <p:nvPr/>
        </p:nvSpPr>
        <p:spPr>
          <a:xfrm>
            <a:off x="8284464" y="1444752"/>
            <a:ext cx="73152" cy="15087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0" name="Text 18"/>
          <p:cNvSpPr/>
          <p:nvPr/>
        </p:nvSpPr>
        <p:spPr>
          <a:xfrm>
            <a:off x="8513064" y="1609344"/>
            <a:ext cx="28620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Especialización deportiva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13064" y="2011680"/>
            <a:ext cx="2862072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Capa adaptable: agrega reglamento del deporte y permite extender el dominio.</a:t>
            </a:r>
            <a:endParaRPr lang="en-US" sz="1020" dirty="0"/>
          </a:p>
        </p:txBody>
      </p:sp>
      <p:sp>
        <p:nvSpPr>
          <p:cNvPr id="22" name="Shape 20"/>
          <p:cNvSpPr/>
          <p:nvPr/>
        </p:nvSpPr>
        <p:spPr>
          <a:xfrm>
            <a:off x="4014216" y="2212848"/>
            <a:ext cx="347472" cy="0"/>
          </a:xfrm>
          <a:prstGeom prst="line">
            <a:avLst/>
          </a:prstGeom>
          <a:noFill/>
          <a:ln w="17780">
            <a:solidFill>
              <a:srgbClr val="D8E2EE"/>
            </a:solidFill>
            <a:prstDash val="solid"/>
            <a:tailEnd type="triangle"/>
          </a:ln>
        </p:spPr>
        <p:txBody>
          <a:bodyPr/>
          <a:lstStyle/>
          <a:p>
            <a:endParaRPr lang="es-PY"/>
          </a:p>
        </p:txBody>
      </p:sp>
      <p:sp>
        <p:nvSpPr>
          <p:cNvPr id="23" name="Shape 21"/>
          <p:cNvSpPr/>
          <p:nvPr/>
        </p:nvSpPr>
        <p:spPr>
          <a:xfrm>
            <a:off x="7827264" y="2212848"/>
            <a:ext cx="347472" cy="0"/>
          </a:xfrm>
          <a:prstGeom prst="line">
            <a:avLst/>
          </a:prstGeom>
          <a:noFill/>
          <a:ln w="17780">
            <a:solidFill>
              <a:srgbClr val="D8E2EE"/>
            </a:solidFill>
            <a:prstDash val="solid"/>
            <a:tailEnd type="triangle"/>
          </a:ln>
        </p:spPr>
        <p:txBody>
          <a:bodyPr/>
          <a:lstStyle/>
          <a:p>
            <a:endParaRPr lang="es-PY"/>
          </a:p>
        </p:txBody>
      </p:sp>
      <p:sp>
        <p:nvSpPr>
          <p:cNvPr id="24" name="Shape 22"/>
          <p:cNvSpPr/>
          <p:nvPr/>
        </p:nvSpPr>
        <p:spPr>
          <a:xfrm>
            <a:off x="1005840" y="3703320"/>
            <a:ext cx="5074920" cy="1783080"/>
          </a:xfrm>
          <a:prstGeom prst="roundRect">
            <a:avLst>
              <a:gd name="adj" fmla="val 4103"/>
            </a:avLst>
          </a:prstGeom>
          <a:solidFill>
            <a:srgbClr val="0E1726"/>
          </a:solidFill>
          <a:ln w="12700">
            <a:solidFill>
              <a:srgbClr val="0E1726"/>
            </a:solidFill>
            <a:prstDash val="solid"/>
          </a:ln>
          <a:effectLst>
            <a:outerShdw blurRad="12700" dist="889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25" name="Shape 23"/>
          <p:cNvSpPr/>
          <p:nvPr/>
        </p:nvSpPr>
        <p:spPr>
          <a:xfrm>
            <a:off x="1005840" y="3703320"/>
            <a:ext cx="73152" cy="178308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26" name="Text 24"/>
          <p:cNvSpPr/>
          <p:nvPr/>
        </p:nvSpPr>
        <p:spPr>
          <a:xfrm>
            <a:off x="1234440" y="3867912"/>
            <a:ext cx="46908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</a:rPr>
              <a:t>Preparado para evolucionar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1234440" y="4270248"/>
            <a:ext cx="4690872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10" dirty="0">
                <a:solidFill>
                  <a:srgbClr val="DDE7F0"/>
                </a:solidFill>
              </a:rPr>
              <a:t>• Se puede reemplazar la consola por interfaz gráfica o web</a:t>
            </a:r>
            <a:endParaRPr lang="en-US" sz="1010" dirty="0"/>
          </a:p>
          <a:p>
            <a:pPr marL="0" indent="0">
              <a:buNone/>
            </a:pPr>
            <a:r>
              <a:rPr lang="en-US" sz="1010" dirty="0">
                <a:solidFill>
                  <a:srgbClr val="DDE7F0"/>
                </a:solidFill>
              </a:rPr>
              <a:t>• Se pueden sumar deportes sin rehacer el flujo principal</a:t>
            </a:r>
            <a:endParaRPr lang="en-US" sz="1010" dirty="0"/>
          </a:p>
          <a:p>
            <a:pPr marL="0" indent="0">
              <a:buNone/>
            </a:pPr>
            <a:r>
              <a:rPr lang="en-US" sz="1010" dirty="0">
                <a:solidFill>
                  <a:srgbClr val="DDE7F0"/>
                </a:solidFill>
              </a:rPr>
              <a:t>• La lógica se mantiene separada de la presentación</a:t>
            </a:r>
            <a:endParaRPr lang="en-US" sz="1010" dirty="0"/>
          </a:p>
          <a:p>
            <a:pPr marL="0" indent="0">
              <a:buNone/>
            </a:pPr>
            <a:r>
              <a:rPr lang="en-US" sz="1010" dirty="0">
                <a:solidFill>
                  <a:srgbClr val="DDE7F0"/>
                </a:solidFill>
              </a:rPr>
              <a:t>• El módulo de análisis permite ordenar y resumir información</a:t>
            </a:r>
            <a:endParaRPr lang="en-US" sz="1010" dirty="0"/>
          </a:p>
        </p:txBody>
      </p:sp>
      <p:sp>
        <p:nvSpPr>
          <p:cNvPr id="28" name="Shape 26"/>
          <p:cNvSpPr/>
          <p:nvPr/>
        </p:nvSpPr>
        <p:spPr>
          <a:xfrm>
            <a:off x="6446520" y="3703320"/>
            <a:ext cx="4480560" cy="1783080"/>
          </a:xfrm>
          <a:prstGeom prst="roundRect">
            <a:avLst>
              <a:gd name="adj" fmla="val 4103"/>
            </a:avLst>
          </a:prstGeom>
          <a:solidFill>
            <a:srgbClr val="0E1726"/>
          </a:solidFill>
          <a:ln w="12700">
            <a:solidFill>
              <a:srgbClr val="162033"/>
            </a:solidFill>
            <a:prstDash val="solid"/>
          </a:ln>
          <a:effectLst>
            <a:outerShdw blurRad="15240" dist="11430" dir="2700000" algn="bl" rotWithShape="0">
              <a:srgbClr val="000000">
                <a:alpha val="24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29" name="Shape 27"/>
          <p:cNvSpPr/>
          <p:nvPr/>
        </p:nvSpPr>
        <p:spPr>
          <a:xfrm>
            <a:off x="6446520" y="3703320"/>
            <a:ext cx="4480560" cy="292608"/>
          </a:xfrm>
          <a:prstGeom prst="rect">
            <a:avLst/>
          </a:prstGeom>
          <a:solidFill>
            <a:srgbClr val="0A1020"/>
          </a:solidFill>
          <a:ln w="12700">
            <a:solidFill>
              <a:srgbClr val="0A1020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0" name="Shape 28"/>
          <p:cNvSpPr/>
          <p:nvPr/>
        </p:nvSpPr>
        <p:spPr>
          <a:xfrm>
            <a:off x="6592824" y="3803904"/>
            <a:ext cx="73152" cy="73152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1" name="Shape 29"/>
          <p:cNvSpPr/>
          <p:nvPr/>
        </p:nvSpPr>
        <p:spPr>
          <a:xfrm>
            <a:off x="6729984" y="3803904"/>
            <a:ext cx="73152" cy="7315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2" name="Shape 30"/>
          <p:cNvSpPr/>
          <p:nvPr/>
        </p:nvSpPr>
        <p:spPr>
          <a:xfrm>
            <a:off x="6867144" y="3803904"/>
            <a:ext cx="73152" cy="73152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3" name="Text 31"/>
          <p:cNvSpPr/>
          <p:nvPr/>
        </p:nvSpPr>
        <p:spPr>
          <a:xfrm>
            <a:off x="7086600" y="3790188"/>
            <a:ext cx="3703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94A3B8"/>
                </a:solidFill>
              </a:rPr>
              <a:t>Módulo de análisis</a:t>
            </a:r>
            <a:endParaRPr lang="en-US" sz="680" dirty="0"/>
          </a:p>
        </p:txBody>
      </p:sp>
      <p:sp>
        <p:nvSpPr>
          <p:cNvPr id="35" name="Shape 32"/>
          <p:cNvSpPr/>
          <p:nvPr/>
        </p:nvSpPr>
        <p:spPr>
          <a:xfrm>
            <a:off x="6446520" y="3977640"/>
            <a:ext cx="448056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pic>
        <p:nvPicPr>
          <p:cNvPr id="36" name="Picture 35" descr="11_mockup_funcional_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8" y="4023360"/>
            <a:ext cx="4443984" cy="142646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6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11F"/>
          </a:solidFill>
          <a:ln w="12700">
            <a:solidFill>
              <a:srgbClr val="06111F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3" name="Shape 1"/>
          <p:cNvSpPr/>
          <p:nvPr/>
        </p:nvSpPr>
        <p:spPr>
          <a:xfrm>
            <a:off x="594360" y="1143000"/>
            <a:ext cx="1371600" cy="7315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4" name="Text 2"/>
          <p:cNvSpPr/>
          <p:nvPr/>
        </p:nvSpPr>
        <p:spPr>
          <a:xfrm>
            <a:off x="594360" y="153619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</a:rPr>
              <a:t>¡Gracias!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21792" y="2542032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D7E3F0"/>
                </a:solidFill>
              </a:rPr>
              <a:t>Un sistema que centraliza, valida y analiza tus eventos.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1792" y="3246120"/>
            <a:ext cx="6537960" cy="0"/>
          </a:xfrm>
          <a:prstGeom prst="line">
            <a:avLst/>
          </a:prstGeom>
          <a:noFill/>
          <a:ln w="12700">
            <a:solidFill>
              <a:srgbClr val="26415E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7" name="Text 5"/>
          <p:cNvSpPr/>
          <p:nvPr/>
        </p:nvSpPr>
        <p:spPr>
          <a:xfrm>
            <a:off x="640080" y="35661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0B981"/>
                </a:solidFill>
              </a:rPr>
              <a:t>¿Preguntas?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640080" y="6181344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7F3D0"/>
                </a:solidFill>
              </a:rPr>
              <a:t>Grupo 15 · Elías González · Enzo Domínguez · Nicolás Bareiro · FP-UNA 2026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452360" y="1325880"/>
            <a:ext cx="4069080" cy="2331720"/>
          </a:xfrm>
          <a:prstGeom prst="roundRect">
            <a:avLst>
              <a:gd name="adj" fmla="val 3137"/>
            </a:avLst>
          </a:prstGeom>
          <a:solidFill>
            <a:srgbClr val="0E1726"/>
          </a:solidFill>
          <a:ln w="12700">
            <a:solidFill>
              <a:srgbClr val="162033"/>
            </a:solidFill>
            <a:prstDash val="solid"/>
          </a:ln>
          <a:effectLst>
            <a:outerShdw blurRad="15240" dist="11430" dir="2700000" algn="bl" rotWithShape="0">
              <a:srgbClr val="000000">
                <a:alpha val="24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0" name="Shape 8"/>
          <p:cNvSpPr/>
          <p:nvPr/>
        </p:nvSpPr>
        <p:spPr>
          <a:xfrm>
            <a:off x="7452360" y="1325880"/>
            <a:ext cx="4069080" cy="292608"/>
          </a:xfrm>
          <a:prstGeom prst="rect">
            <a:avLst/>
          </a:prstGeom>
          <a:solidFill>
            <a:srgbClr val="0A1020"/>
          </a:solidFill>
          <a:ln w="12700">
            <a:solidFill>
              <a:srgbClr val="0A1020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1" name="Shape 9"/>
          <p:cNvSpPr/>
          <p:nvPr/>
        </p:nvSpPr>
        <p:spPr>
          <a:xfrm>
            <a:off x="7598664" y="1426464"/>
            <a:ext cx="73152" cy="73152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2" name="Shape 10"/>
          <p:cNvSpPr/>
          <p:nvPr/>
        </p:nvSpPr>
        <p:spPr>
          <a:xfrm>
            <a:off x="7735824" y="1426464"/>
            <a:ext cx="73152" cy="7315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3" name="Shape 11"/>
          <p:cNvSpPr/>
          <p:nvPr/>
        </p:nvSpPr>
        <p:spPr>
          <a:xfrm>
            <a:off x="7872984" y="1426464"/>
            <a:ext cx="73152" cy="73152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4" name="Text 12"/>
          <p:cNvSpPr/>
          <p:nvPr/>
        </p:nvSpPr>
        <p:spPr>
          <a:xfrm>
            <a:off x="8092440" y="1412748"/>
            <a:ext cx="3291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94A3B8"/>
                </a:solidFill>
              </a:rPr>
              <a:t>Consulta por categoría</a:t>
            </a:r>
            <a:endParaRPr lang="en-US" sz="680" dirty="0"/>
          </a:p>
        </p:txBody>
      </p:sp>
      <p:sp>
        <p:nvSpPr>
          <p:cNvPr id="16" name="Shape 13"/>
          <p:cNvSpPr/>
          <p:nvPr/>
        </p:nvSpPr>
        <p:spPr>
          <a:xfrm>
            <a:off x="7452360" y="1600200"/>
            <a:ext cx="4069080" cy="2743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7" name="Shape 14"/>
          <p:cNvSpPr/>
          <p:nvPr/>
        </p:nvSpPr>
        <p:spPr>
          <a:xfrm>
            <a:off x="7452360" y="3977640"/>
            <a:ext cx="4069080" cy="1234440"/>
          </a:xfrm>
          <a:prstGeom prst="roundRect">
            <a:avLst>
              <a:gd name="adj" fmla="val 5926"/>
            </a:avLst>
          </a:prstGeom>
          <a:solidFill>
            <a:srgbClr val="0E1726"/>
          </a:solidFill>
          <a:ln w="12700">
            <a:solidFill>
              <a:srgbClr val="0E1726"/>
            </a:solidFill>
            <a:prstDash val="solid"/>
          </a:ln>
          <a:effectLst>
            <a:outerShdw blurRad="12700" dist="889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PY"/>
          </a:p>
        </p:txBody>
      </p:sp>
      <p:sp>
        <p:nvSpPr>
          <p:cNvPr id="18" name="Shape 15"/>
          <p:cNvSpPr/>
          <p:nvPr/>
        </p:nvSpPr>
        <p:spPr>
          <a:xfrm>
            <a:off x="7452360" y="3977640"/>
            <a:ext cx="73152" cy="12344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Y"/>
          </a:p>
        </p:txBody>
      </p:sp>
      <p:sp>
        <p:nvSpPr>
          <p:cNvPr id="19" name="Text 16"/>
          <p:cNvSpPr/>
          <p:nvPr/>
        </p:nvSpPr>
        <p:spPr>
          <a:xfrm>
            <a:off x="7680960" y="4142232"/>
            <a:ext cx="36850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</a:rPr>
              <a:t>Cierre de valor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7680960" y="4544568"/>
            <a:ext cx="3685032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70" dirty="0">
                <a:solidFill>
                  <a:srgbClr val="DDE7F0"/>
                </a:solidFill>
              </a:rPr>
              <a:t>La solución demuestra un flujo completo: registrar, validar, vender, consultar y analizar eventos con reglas claras.</a:t>
            </a:r>
            <a:endParaRPr lang="en-US" sz="1070" dirty="0"/>
          </a:p>
        </p:txBody>
      </p:sp>
      <p:pic>
        <p:nvPicPr>
          <p:cNvPr id="21" name="Picture 20" descr="12_mockup_filtrar_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0648" y="1645920"/>
            <a:ext cx="4032504" cy="197510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320040"/>
            <a:ext cx="7315200" cy="2286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047857"/>
                </a:solidFill>
                <a:latin typeface="Segoe UI"/>
              </a:rPr>
              <a:t>DISEÑO DE CLASES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66928"/>
            <a:ext cx="1069848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0B1220"/>
                </a:solidFill>
                <a:latin typeface="Segoe UI Semibold"/>
              </a:rPr>
              <a:t>El modelo del sistema (UML)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179576"/>
            <a:ext cx="1106424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528816"/>
            <a:ext cx="8229600" cy="1828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Segoe UI"/>
              </a:rPr>
              <a:t>Sistema de Gestión de Eventos · Paradigmas de la Programación · FP-UNA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92256" y="6492240"/>
            <a:ext cx="548640" cy="2011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>
                <a:solidFill>
                  <a:srgbClr val="64748B"/>
                </a:solidFill>
                <a:latin typeface="Segoe UI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371600"/>
            <a:ext cx="2537653" cy="479145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diagrama_G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81328"/>
            <a:ext cx="2318197" cy="4572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40880" y="1417320"/>
            <a:ext cx="45720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600" b="1">
                <a:solidFill>
                  <a:srgbClr val="0B1220"/>
                </a:solidFill>
                <a:latin typeface="Segoe UI Semibold"/>
              </a:rPr>
              <a:t>Cómo leer el diagrama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80" y="1965960"/>
            <a:ext cx="457200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040880" y="1965960"/>
            <a:ext cx="73152" cy="1143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69480" y="2093976"/>
            <a:ext cx="416052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400" b="1">
                <a:solidFill>
                  <a:srgbClr val="0B1220"/>
                </a:solidFill>
                <a:latin typeface="Segoe UI Semibold"/>
              </a:rPr>
              <a:t>Herencia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2468880"/>
            <a:ext cx="416052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Segoe UI"/>
              </a:rPr>
              <a:t>EventoDeportivo ES una AgendaEventos especializada (triángulo hueco).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40880" y="3291839"/>
            <a:ext cx="457200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040880" y="3291839"/>
            <a:ext cx="73152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69480" y="3419856"/>
            <a:ext cx="416052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400" b="1">
                <a:solidFill>
                  <a:srgbClr val="0B1220"/>
                </a:solidFill>
                <a:latin typeface="Segoe UI Semibold"/>
              </a:rPr>
              <a:t>Composición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80" y="3794759"/>
            <a:ext cx="416052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Segoe UI"/>
              </a:rPr>
              <a:t>La agenda contiene de 0 a muchos Evento (rombo relleno, 1 a 0..*).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4617720"/>
            <a:ext cx="457200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040880" y="4617720"/>
            <a:ext cx="73152" cy="1143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80" y="4745736"/>
            <a:ext cx="416052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400" b="1">
                <a:solidFill>
                  <a:srgbClr val="0B1220"/>
                </a:solidFill>
                <a:latin typeface="Segoe UI Semibold"/>
              </a:rPr>
              <a:t>Validación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9480" y="5120640"/>
            <a:ext cx="416052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Segoe UI"/>
              </a:rPr>
              <a:t>Atributos sensibles protegidos con properties (fecha, cupo, ventas).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1063</Words>
  <Application>Microsoft Office PowerPoint</Application>
  <PresentationFormat>Panorámica</PresentationFormat>
  <Paragraphs>195</Paragraphs>
  <Slides>12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Aptos Display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FP-UNA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 de Gestión de Eventos</dc:title>
  <dc:subject>Defensa oral - Proyecto Final Grupo 15</dc:subject>
  <dc:creator>Microsoft Copilot</dc:creator>
  <cp:lastModifiedBy>Enzo Dominguez</cp:lastModifiedBy>
  <cp:revision>3</cp:revision>
  <dcterms:created xsi:type="dcterms:W3CDTF">2026-06-30T19:09:01Z</dcterms:created>
  <dcterms:modified xsi:type="dcterms:W3CDTF">2026-06-30T19:23:47Z</dcterms:modified>
</cp:coreProperties>
</file>