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914400"/>
            <a:ext cx="4114800" cy="4114800"/>
          </a:xfrm>
          <a:prstGeom prst="ellipse">
            <a:avLst/>
          </a:prstGeom>
          <a:solidFill>
            <a:srgbClr val="12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463040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54864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Segoe UI"/>
              </a:rPr>
              <a:t>PROYECTO FINAL · GRUPO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600200"/>
            <a:ext cx="6583680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Sistema de Gestión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de Eventos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64008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0F2FE"/>
                </a:solidFill>
                <a:latin typeface="Segoe UI"/>
              </a:rPr>
              <a:t>Una solución de consola para registrar eventos, controlar cupos, vender entradas y consultar estadísticas.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00600"/>
            <a:ext cx="1645920" cy="384048"/>
          </a:xfrm>
          <a:prstGeom prst="round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800600"/>
            <a:ext cx="1645920" cy="3840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Elías González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4800600"/>
            <a:ext cx="1645920" cy="384048"/>
          </a:xfrm>
          <a:prstGeom prst="round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4800600"/>
            <a:ext cx="1645920" cy="3840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Enzo Domínguez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4800600"/>
            <a:ext cx="1645920" cy="384048"/>
          </a:xfrm>
          <a:prstGeom prst="round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4800600"/>
            <a:ext cx="1645920" cy="3840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Nicolás Bareiro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D1FAE5"/>
                </a:solidFill>
                <a:latin typeface="Segoe UI"/>
              </a:rPr>
              <a:t>Paradigmas de la Programación · FP-UNA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731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47857"/>
                </a:solidFill>
                <a:latin typeface="Segoe U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B1220"/>
                </a:solidFill>
                <a:latin typeface="Segoe UI Semibold"/>
              </a:rPr>
              <a:t>El problema que resolvemos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6424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Sistema de Gestión de Eventos · Proyecto Final · FP-UNA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4748B"/>
                </a:solidFill>
                <a:latin typeface="Segoe U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56616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82296" cy="2331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655064"/>
            <a:ext cx="31089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1220"/>
                </a:solidFill>
                <a:latin typeface="Segoe UI Semibold"/>
              </a:rPr>
              <a:t>Riesgo operativo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075688"/>
            <a:ext cx="3108960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Gestionar eventos de forma manual aumenta el riesgo de datos incompletos, sobreventa de entradas y pérdida de control del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08760"/>
            <a:ext cx="356616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508760"/>
            <a:ext cx="82296" cy="2331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655064"/>
            <a:ext cx="31089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1220"/>
                </a:solidFill>
                <a:latin typeface="Segoe UI Semibold"/>
              </a:rPr>
              <a:t>Qué se necesita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075688"/>
            <a:ext cx="3108960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Centralizar eventos, cupos, confirmaciones y métricas en un flujo simple, con validaciones para fechas y cantidades.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08760"/>
            <a:ext cx="356616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508760"/>
            <a:ext cx="82296" cy="2331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655064"/>
            <a:ext cx="31089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1220"/>
                </a:solidFill>
                <a:latin typeface="Segoe UI Semibold"/>
              </a:rPr>
              <a:t>Resultado esperado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075688"/>
            <a:ext cx="3108960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Una herramienta clara y demostrable en consola, que da visibilidad inmediata del estado de la agenda.</a:t>
            </a:r>
          </a:p>
        </p:txBody>
      </p:sp>
      <p:pic>
        <p:nvPicPr>
          <p:cNvPr id="21" name="Picture 20" descr="mockup_a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43" y="4069080"/>
            <a:ext cx="4911634" cy="219456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766560" y="4069080"/>
            <a:ext cx="484632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0" y="4069080"/>
            <a:ext cx="82296" cy="219456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22592" y="4215384"/>
            <a:ext cx="43891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1220"/>
                </a:solidFill>
                <a:latin typeface="Segoe UI Semibold"/>
              </a:rPr>
              <a:t>Mensaje clave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4636008"/>
            <a:ext cx="438912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El sistema no solo guarda eventos: aplica las reglas por sí mismo y permite decidir con datos confiables.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731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47857"/>
                </a:solidFill>
                <a:latin typeface="Segoe UI"/>
              </a:rPr>
              <a:t>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B1220"/>
                </a:solidFill>
                <a:latin typeface="Segoe UI Semibold"/>
              </a:rPr>
              <a:t>Nuestra solución: una agenda de eventos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6424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Sistema de Gestión de Eventos · Proyecto Final · FP-UNA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4748B"/>
                </a:solidFill>
                <a:latin typeface="Segoe U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548640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ckup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09" y="1645920"/>
            <a:ext cx="4976261" cy="42976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09360" y="1508760"/>
            <a:ext cx="530352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08760"/>
            <a:ext cx="82296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655064"/>
            <a:ext cx="4846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1220"/>
                </a:solidFill>
                <a:latin typeface="Segoe UI Semibold"/>
              </a:rPr>
              <a:t>Qué permite hacer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075688"/>
            <a:ext cx="4846320" cy="1645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• Crear una agenda especializada por deporte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• Cargar eventos con fecha, lugar, categoría y cupo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• Confirmar eventos y vender entradas con control de cupo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• Consultar estadísticas de ocupación y estado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069080"/>
            <a:ext cx="530352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4069080"/>
            <a:ext cx="82296" cy="20116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215384"/>
            <a:ext cx="4846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1220"/>
                </a:solidFill>
                <a:latin typeface="Segoe UI Semibold"/>
              </a:rPr>
              <a:t>Por qué es útil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4636008"/>
            <a:ext cx="484632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Permite ver al instante qué eventos están cargados, cuántas entradas se vendieron y qué capacidad queda disponible.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731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47857"/>
                </a:solidFill>
                <a:latin typeface="Segoe UI"/>
              </a:rPr>
              <a:t>CAPACIDADES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B1220"/>
                </a:solidFill>
                <a:latin typeface="Segoe UI Semibold"/>
              </a:rPr>
              <a:t>Todo lo que podés hacer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6424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Sistema de Gestión de Eventos · Proyecto Final · FP-UNA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4748B"/>
                </a:solidFill>
                <a:latin typeface="Segoe U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2670048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185623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68880"/>
            <a:ext cx="221284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220"/>
                </a:solidFill>
                <a:latin typeface="Segoe UI Semibold"/>
              </a:rPr>
              <a:t>Registrar eventos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600200"/>
            <a:ext cx="2670048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93592" y="185623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468880"/>
            <a:ext cx="221284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220"/>
                </a:solidFill>
                <a:latin typeface="Segoe UI Semibold"/>
              </a:rPr>
              <a:t>Mostrar y consultar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600200"/>
            <a:ext cx="2670048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82512" y="185623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468880"/>
            <a:ext cx="221284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220"/>
                </a:solidFill>
                <a:latin typeface="Segoe UI Semibold"/>
              </a:rPr>
              <a:t>Buscar por nombre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600200"/>
            <a:ext cx="2670048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71432" y="1856232"/>
            <a:ext cx="457200" cy="457200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2468880"/>
            <a:ext cx="221284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220"/>
                </a:solidFill>
                <a:latin typeface="Segoe UI Semibold"/>
              </a:rPr>
              <a:t>Filtrar por categoría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310128"/>
            <a:ext cx="2670048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35661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178808"/>
            <a:ext cx="221284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220"/>
                </a:solidFill>
                <a:latin typeface="Segoe UI Semibold"/>
              </a:rPr>
              <a:t>Vender entradas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3310128"/>
            <a:ext cx="2670048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93592" y="356616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3592" y="4178808"/>
            <a:ext cx="221284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220"/>
                </a:solidFill>
                <a:latin typeface="Segoe UI Semibold"/>
              </a:rPr>
              <a:t>Confirmar eventos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310128"/>
            <a:ext cx="2670048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82512" y="35661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178808"/>
            <a:ext cx="221284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220"/>
                </a:solidFill>
                <a:latin typeface="Segoe UI Semibold"/>
              </a:rPr>
              <a:t>Ver estadísticas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15400" y="3310128"/>
            <a:ext cx="2670048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71432" y="3566160"/>
            <a:ext cx="457200" cy="457200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1432" y="4178808"/>
            <a:ext cx="221284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220"/>
                </a:solidFill>
                <a:latin typeface="Segoe UI Semibold"/>
              </a:rPr>
              <a:t>Análisis funcional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731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47857"/>
                </a:solidFill>
                <a:latin typeface="Segoe UI"/>
              </a:rPr>
              <a:t>DEMOSTRACIÓN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B1220"/>
                </a:solidFill>
                <a:latin typeface="Segoe UI Semibold"/>
              </a:rPr>
              <a:t>Recorrido del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6424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Sistema de Gestión de Eventos · Proyecto Final · FP-UNA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4748B"/>
                </a:solidFill>
                <a:latin typeface="Segoe U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52044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82296" cy="1920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655064"/>
            <a:ext cx="30632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1220"/>
                </a:solidFill>
                <a:latin typeface="Segoe UI Semibold"/>
              </a:rPr>
              <a:t>1. Alta inicial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075688"/>
            <a:ext cx="306324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Creamos la agenda y cargamos eventos con sus datos. La fecha se valida antes de registrar.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508760"/>
            <a:ext cx="352044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508760"/>
            <a:ext cx="82296" cy="19202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655064"/>
            <a:ext cx="30632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1220"/>
                </a:solidFill>
                <a:latin typeface="Segoe UI Semibold"/>
              </a:rPr>
              <a:t>2. Control de cupos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75688"/>
            <a:ext cx="306324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Vendemos entradas y el sistema impide superar la capacidad disponible.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1508760"/>
            <a:ext cx="352044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1856" y="1508760"/>
            <a:ext cx="82296" cy="1920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655064"/>
            <a:ext cx="30632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1220"/>
                </a:solidFill>
                <a:latin typeface="Segoe UI Semibold"/>
              </a:rPr>
              <a:t>3. Seguimiento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075688"/>
            <a:ext cx="306324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Confirmamos eventos y consultamos estadísticas: ocupación, estados y categorías.</a:t>
            </a:r>
          </a:p>
        </p:txBody>
      </p:sp>
      <p:pic>
        <p:nvPicPr>
          <p:cNvPr id="21" name="Picture 20" descr="mockup_ve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" y="3657600"/>
            <a:ext cx="5730240" cy="256032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132320" y="3657600"/>
            <a:ext cx="4480560" cy="2560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0" y="3657600"/>
            <a:ext cx="82296" cy="25603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8352" y="3803904"/>
            <a:ext cx="40233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1220"/>
                </a:solidFill>
                <a:latin typeface="Segoe UI Semibold"/>
              </a:rPr>
              <a:t>Qué se ve en la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8352" y="4224528"/>
            <a:ext cx="4023360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• Rechazo de una fecha inválida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• Venta aceptada dentro del cupo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• Venta excedida rechazada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• Estadísticas y reglamento del deporte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731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47857"/>
                </a:solidFill>
                <a:latin typeface="Segoe UI"/>
              </a:rPr>
              <a:t>EL SISTEMA EN 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B1220"/>
                </a:solidFill>
                <a:latin typeface="Segoe UI Semibold"/>
              </a:rPr>
              <a:t>Capturas del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6424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Sistema de Gestión de Eventos · Proyecto Final · FP-UNA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4748B"/>
                </a:solidFill>
                <a:latin typeface="Segoe U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48640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5486400" cy="3108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5212080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Menú principal</a:t>
            </a:r>
          </a:p>
        </p:txBody>
      </p:sp>
      <p:pic>
        <p:nvPicPr>
          <p:cNvPr id="12" name="Picture 11" descr="mockup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767" y="1938528"/>
            <a:ext cx="2128145" cy="183794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53912" y="1554480"/>
            <a:ext cx="548640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3912" y="1554480"/>
            <a:ext cx="5486400" cy="3108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554480"/>
            <a:ext cx="5212080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Carga y validación</a:t>
            </a:r>
          </a:p>
        </p:txBody>
      </p:sp>
      <p:pic>
        <p:nvPicPr>
          <p:cNvPr id="16" name="Picture 15" descr="mockup_al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365" y="1938528"/>
            <a:ext cx="4113493" cy="183794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48640" y="4050792"/>
            <a:ext cx="548640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050792"/>
            <a:ext cx="5486400" cy="3108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50792"/>
            <a:ext cx="5212080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Estadísticas</a:t>
            </a:r>
          </a:p>
        </p:txBody>
      </p:sp>
      <p:pic>
        <p:nvPicPr>
          <p:cNvPr id="20" name="Picture 19" descr="mockup_sta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3941" y="4434840"/>
            <a:ext cx="3755798" cy="183794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153912" y="4050792"/>
            <a:ext cx="548640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912" y="4050792"/>
            <a:ext cx="5486400" cy="3108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4050792"/>
            <a:ext cx="5212080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Módulo funcional</a:t>
            </a:r>
          </a:p>
        </p:txBody>
      </p:sp>
      <p:pic>
        <p:nvPicPr>
          <p:cNvPr id="24" name="Picture 23" descr="mockup_funcio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0365" y="4434840"/>
            <a:ext cx="4113493" cy="18379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731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47857"/>
                </a:solidFill>
                <a:latin typeface="Segoe UI"/>
              </a:rPr>
              <a:t>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B1220"/>
                </a:solidFill>
                <a:latin typeface="Segoe UI Semibold"/>
              </a:rPr>
              <a:t>Beneficios del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6424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Sistema de Gestión de Eventos · Proyecto Final · FP-UNA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4748B"/>
                </a:solidFill>
                <a:latin typeface="Segoe UI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82296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700784"/>
            <a:ext cx="30632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B1220"/>
                </a:solidFill>
                <a:latin typeface="Segoe UI Semibold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121408"/>
            <a:ext cx="306324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111827"/>
                </a:solidFill>
                <a:latin typeface="Segoe UI"/>
              </a:rPr>
              <a:t>El cupo, las ventas y los lugares disponibles se gestionan de forma consistente para evitar sobreventa.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554480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554480"/>
            <a:ext cx="82296" cy="2103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700784"/>
            <a:ext cx="30632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B1220"/>
                </a:solidFill>
                <a:latin typeface="Segoe UI Semibold"/>
              </a:rPr>
              <a:t>Trazabilidad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21408"/>
            <a:ext cx="306324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111827"/>
                </a:solidFill>
                <a:latin typeface="Segoe UI"/>
              </a:rPr>
              <a:t>Cada evento se identifica por nombre, fecha, lugar, categoría, estado y ventas realizadas.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1554480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1856" y="1554480"/>
            <a:ext cx="82296" cy="2103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700784"/>
            <a:ext cx="30632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B1220"/>
                </a:solidFill>
                <a:latin typeface="Segoe UI Semibold"/>
              </a:rPr>
              <a:t>Visibilidad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121408"/>
            <a:ext cx="306324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111827"/>
                </a:solidFill>
                <a:latin typeface="Segoe UI"/>
              </a:rPr>
              <a:t>Las estadísticas resumen total, confirmados, pendientes, ventas, ocupación y categorías.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40480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840480"/>
            <a:ext cx="82296" cy="21031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986784"/>
            <a:ext cx="30632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B1220"/>
                </a:solidFill>
                <a:latin typeface="Segoe UI Semibold"/>
              </a:rPr>
              <a:t>Calidad 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407408"/>
            <a:ext cx="306324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111827"/>
                </a:solidFill>
                <a:latin typeface="Segoe UI"/>
              </a:rPr>
              <a:t>La fecha se valida en formato AAAA-MM-DD y los cupos deben ser positivos. Lo inválido se rechaza.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0248" y="3840480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0248" y="3840480"/>
            <a:ext cx="82296" cy="2103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3986784"/>
            <a:ext cx="30632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B1220"/>
                </a:solidFill>
                <a:latin typeface="Segoe UI Semibold"/>
              </a:rPr>
              <a:t>Simplicidad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407408"/>
            <a:ext cx="306324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111827"/>
                </a:solidFill>
                <a:latin typeface="Segoe UI"/>
              </a:rPr>
              <a:t>La consola guía con un menú directo, pensado para demostrar el flujo sin herramientas externas.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91856" y="3840480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91856" y="3840480"/>
            <a:ext cx="82296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7888" y="3986784"/>
            <a:ext cx="30632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B1220"/>
                </a:solidFill>
                <a:latin typeface="Segoe UI Semibold"/>
              </a:rPr>
              <a:t>Extensión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4407408"/>
            <a:ext cx="306324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111827"/>
                </a:solidFill>
                <a:latin typeface="Segoe UI"/>
              </a:rPr>
              <a:t>La lógica está separada de la interfaz: se puede sumar otra interfaz o deportes sin reescribir el motor.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731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47857"/>
                </a:solidFill>
                <a:latin typeface="Segoe UI"/>
              </a:rPr>
              <a:t>EVIDENCIA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B1220"/>
                </a:solidFill>
                <a:latin typeface="Segoe UI Semibold"/>
              </a:rPr>
              <a:t>Resultados de la demostración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6424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Sistema de Gestión de Eventos · Proyecto Final · FP-UNA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4748B"/>
                </a:solidFill>
                <a:latin typeface="Segoe UI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52044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82296" cy="2743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700784"/>
            <a:ext cx="30632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1220"/>
                </a:solidFill>
                <a:latin typeface="Segoe UI Semibold"/>
              </a:rPr>
              <a:t>Datos de la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121408"/>
            <a:ext cx="3063240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11827"/>
                </a:solidFill>
                <a:latin typeface="Segoe UI"/>
              </a:rPr>
              <a:t>Agenda: Liga Verano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11827"/>
                </a:solidFill>
                <a:latin typeface="Segoe UI"/>
              </a:rPr>
              <a:t>Especialización: futsal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11827"/>
                </a:solidFill>
                <a:latin typeface="Segoe UI"/>
              </a:rPr>
              <a:t>Evento: Final del Torneo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11827"/>
                </a:solidFill>
                <a:latin typeface="Segoe UI"/>
              </a:rPr>
              <a:t>Cupo: 200 entradas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11827"/>
                </a:solidFill>
                <a:latin typeface="Segoe UI"/>
              </a:rPr>
              <a:t>Venta: 150 entradas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54480"/>
            <a:ext cx="352044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554480"/>
            <a:ext cx="82296" cy="2743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700784"/>
            <a:ext cx="30632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1220"/>
                </a:solidFill>
                <a:latin typeface="Segoe UI Semibold"/>
              </a:rPr>
              <a:t>Respuesta del sistema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21408"/>
            <a:ext cx="3063240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11827"/>
                </a:solidFill>
                <a:latin typeface="Segoe UI"/>
              </a:rPr>
              <a:t>• Rechaza fecha inválida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11827"/>
                </a:solidFill>
                <a:latin typeface="Segoe UI"/>
              </a:rPr>
              <a:t>• Acepta venta dentro del cupo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11827"/>
                </a:solidFill>
                <a:latin typeface="Segoe UI"/>
              </a:rPr>
              <a:t>• Rechaza venta excedida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11827"/>
                </a:solidFill>
                <a:latin typeface="Segoe UI"/>
              </a:rPr>
              <a:t>• Calcula la ocupación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11827"/>
                </a:solidFill>
                <a:latin typeface="Segoe UI"/>
              </a:rPr>
              <a:t>• Muestra el reglamento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54480"/>
            <a:ext cx="356616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554480"/>
            <a:ext cx="82296" cy="2743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700784"/>
            <a:ext cx="31089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1220"/>
                </a:solidFill>
                <a:latin typeface="Segoe UI Semibold"/>
              </a:rPr>
              <a:t>Indicadores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121408"/>
            <a:ext cx="3108960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11827"/>
                </a:solidFill>
                <a:latin typeface="Segoe UI"/>
              </a:rPr>
              <a:t>Total de eventos: 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11827"/>
                </a:solidFill>
                <a:latin typeface="Segoe UI"/>
              </a:rPr>
              <a:t>Confirmados: 1 | Pendientes: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11827"/>
                </a:solidFill>
                <a:latin typeface="Segoe UI"/>
              </a:rPr>
              <a:t>Vendidas: 150 / 280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11827"/>
                </a:solidFill>
                <a:latin typeface="Segoe UI"/>
              </a:rPr>
              <a:t>Ocupación: 54%</a:t>
            </a:r>
          </a:p>
        </p:txBody>
      </p:sp>
      <p:pic>
        <p:nvPicPr>
          <p:cNvPr id="21" name="Picture 20" descr="mockup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11" y="4480560"/>
            <a:ext cx="3550257" cy="173736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132320" y="4480560"/>
            <a:ext cx="448056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0" y="4480560"/>
            <a:ext cx="82296" cy="173736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8352" y="4626864"/>
            <a:ext cx="40233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1220"/>
                </a:solidFill>
                <a:latin typeface="Segoe UI Semibold"/>
              </a:rPr>
              <a:t>Mensaje clave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8352" y="5047488"/>
            <a:ext cx="402336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No depende de supuestos: la consola muestra la validación y los indicadores en vivo.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731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47857"/>
                </a:solidFill>
                <a:latin typeface="Segoe UI"/>
              </a:rPr>
              <a:t>DISEÑO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B1220"/>
                </a:solidFill>
                <a:latin typeface="Segoe UI Semibold"/>
              </a:rPr>
              <a:t>Cómo está construido y hacia dónde crece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6424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Sistema de Gestión de Eventos · Proyecto Final · FP-UNA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4748B"/>
                </a:solidFill>
                <a:latin typeface="Segoe UI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5204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8229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700784"/>
            <a:ext cx="30632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1220"/>
                </a:solidFill>
                <a:latin typeface="Segoe UI Semibold"/>
              </a:rPr>
              <a:t>Evento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121408"/>
            <a:ext cx="306324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Cada evento individual, con sus datos y sus reglas (cupo, ventas, estado).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554480"/>
            <a:ext cx="35204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554480"/>
            <a:ext cx="82296" cy="1828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700784"/>
            <a:ext cx="30632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1220"/>
                </a:solidFill>
                <a:latin typeface="Segoe UI Semibold"/>
              </a:rPr>
              <a:t>Agenda de eventos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21408"/>
            <a:ext cx="306324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El contenedor que gestiona la colección: alta, búsqueda, filtrado y estadísticas.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1554480"/>
            <a:ext cx="35204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1856" y="1554480"/>
            <a:ext cx="82296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700784"/>
            <a:ext cx="30632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1220"/>
                </a:solidFill>
                <a:latin typeface="Segoe UI Semibold"/>
              </a:rPr>
              <a:t>Agenda deportiva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121408"/>
            <a:ext cx="306324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Una agenda especializada en un deporte; reutiliza la base y agrega su reglamento.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57600"/>
            <a:ext cx="11064240" cy="2468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657600"/>
            <a:ext cx="109728" cy="2468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31920"/>
            <a:ext cx="104241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Segoe UI Semibold"/>
              </a:rPr>
              <a:t>Pensado para crecer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489703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379976"/>
            <a:ext cx="1014984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0F2FE"/>
                </a:solidFill>
                <a:latin typeface="Segoe UI"/>
              </a:rPr>
              <a:t>La lógica está desacoplada de la interfaz: se podría sumar una interfaz gráfica o web reutilizando el mismo motor.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020055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910328"/>
            <a:ext cx="1014984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0F2FE"/>
                </a:solidFill>
                <a:latin typeface="Segoe UI"/>
              </a:rPr>
              <a:t>Agregar un deporte nuevo o un tipo de agenda no requiere reescribir lo existente.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5550407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440680"/>
            <a:ext cx="1014984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0F2FE"/>
                </a:solidFill>
                <a:latin typeface="Segoe UI"/>
              </a:rPr>
              <a:t>Código validado, documentado y con diagrama técnico que respalda el diseño.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731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47857"/>
                </a:solidFill>
                <a:latin typeface="Segoe U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B1220"/>
                </a:solidFill>
                <a:latin typeface="Segoe UI Semibold"/>
              </a:rPr>
              <a:t>Entregable y próximos pasos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6424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Sistema de Gestión de Eventos · Proyecto Final · FP-UNA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82296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700784"/>
            <a:ext cx="30632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1220"/>
                </a:solidFill>
                <a:latin typeface="Segoe UI Semibold"/>
              </a:rPr>
              <a:t>Entregable actual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121408"/>
            <a:ext cx="306324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Sistema funcional en consola para gestionar eventos, validar datos, controlar cupos y consultar estadísticas.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54480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554480"/>
            <a:ext cx="82296" cy="2103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700784"/>
            <a:ext cx="30632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1220"/>
                </a:solidFill>
                <a:latin typeface="Segoe UI Semibold"/>
              </a:rPr>
              <a:t>Valor confirmado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21408"/>
            <a:ext cx="306324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La demo comprueba el alta de eventos, el rechazo de datos inválidos, la venta controlada y el resumen de indicadores.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54480"/>
            <a:ext cx="356616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554480"/>
            <a:ext cx="82296" cy="2103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700784"/>
            <a:ext cx="31089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1220"/>
                </a:solidFill>
                <a:latin typeface="Segoe UI Semibold"/>
              </a:rPr>
              <a:t>Próximas mejoras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121408"/>
            <a:ext cx="310896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Persistencia de datos, reportes exportables o una interfaz gráfica reutilizando el mismo motor.</a:t>
            </a:r>
          </a:p>
        </p:txBody>
      </p:sp>
      <p:pic>
        <p:nvPicPr>
          <p:cNvPr id="21" name="Picture 20" descr="mockup_filtr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897" y="3886200"/>
            <a:ext cx="5116285" cy="2286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132320" y="3886200"/>
            <a:ext cx="44805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0" y="3886200"/>
            <a:ext cx="82296" cy="22860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8352" y="4032504"/>
            <a:ext cx="40233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1220"/>
                </a:solidFill>
                <a:latin typeface="Segoe UI Semibold"/>
              </a:rPr>
              <a:t>En síntesis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8352" y="4453128"/>
            <a:ext cx="4023360" cy="1554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111827"/>
                </a:solidFill>
                <a:latin typeface="Segoe UI"/>
              </a:rPr>
              <a:t>El sistema está listo y demuestra el flujo completo; su diseño desacoplado permite que evolucione sin reescribir la lógica.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4114800"/>
            <a:ext cx="4114800" cy="4114800"/>
          </a:xfrm>
          <a:prstGeom prst="ellipse">
            <a:avLst/>
          </a:prstGeom>
          <a:solidFill>
            <a:srgbClr val="12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286000"/>
            <a:ext cx="1463040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560320"/>
            <a:ext cx="1005840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Segoe UI Semibold"/>
              </a:rPr>
              <a:t>¡Gracias!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9601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E0F2FE"/>
                </a:solidFill>
                <a:latin typeface="Segoe UI"/>
              </a:rPr>
              <a:t>Un sistema que centraliza, valida y analiza tus eventos.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4526280"/>
            <a:ext cx="6766560" cy="15240"/>
          </a:xfrm>
          <a:prstGeom prst="rect">
            <a:avLst/>
          </a:prstGeom>
          <a:solidFill>
            <a:srgbClr val="2B4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100584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0B981"/>
                </a:solidFill>
                <a:latin typeface="Segoe UI Semibold"/>
              </a:rPr>
              <a:t>¿Preguntas?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058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D1FAE5"/>
                </a:solidFill>
                <a:latin typeface="Segoe UI"/>
              </a:rPr>
              <a:t>Grupo 15 · Elías González · Enzo Domínguez · Nicolás Bareiro · FP-UNA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