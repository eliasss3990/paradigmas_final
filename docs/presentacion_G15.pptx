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A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92640" y="-731520"/>
            <a:ext cx="3291840" cy="3291840"/>
          </a:xfrm>
          <a:prstGeom prst="ellipse">
            <a:avLst/>
          </a:prstGeom>
          <a:solidFill>
            <a:srgbClr val="18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98480" y="182880"/>
            <a:ext cx="2011680" cy="2011680"/>
          </a:xfrm>
          <a:prstGeom prst="ellipse">
            <a:avLst/>
          </a:prstGeom>
          <a:solidFill>
            <a:srgbClr val="1D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74519"/>
            <a:ext cx="1371600" cy="11887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2148840"/>
            <a:ext cx="10058400" cy="13716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Segoe UI Semibold"/>
              </a:rPr>
              <a:t>Sistema de Gestión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Segoe UI Semibold"/>
              </a:rPr>
              <a:t>de Eventos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977639"/>
            <a:ext cx="960120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B7C6D9"/>
                </a:solidFill>
                <a:latin typeface="Segoe UI"/>
              </a:rPr>
              <a:t>Organizá, controlá y analizá tus eventos en un solo lugar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4892040"/>
            <a:ext cx="6766560" cy="15240"/>
          </a:xfrm>
          <a:prstGeom prst="rect">
            <a:avLst/>
          </a:prstGeom>
          <a:solidFill>
            <a:srgbClr val="2B47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5074920"/>
            <a:ext cx="100584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Elias Gonzalez   ·   Enzo Dominguez   ·   Nicolas Bareiro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486400"/>
            <a:ext cx="100584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8CA1BC"/>
                </a:solidFill>
                <a:latin typeface="Segoe UI"/>
              </a:rPr>
              <a:t>Paradigmas de la Programación   ·   FP-UNA   · 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91440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502920"/>
            <a:ext cx="10058400" cy="310896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14B8A6"/>
                </a:solidFill>
                <a:latin typeface="Segoe UI"/>
              </a:rPr>
              <a:t>PRESENTACIÓN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786384"/>
            <a:ext cx="107899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0E2238"/>
                </a:solidFill>
                <a:latin typeface="Segoe UI Semibold"/>
              </a:rPr>
              <a:t>Qué vamos a 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83080"/>
            <a:ext cx="73152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2563EB"/>
                </a:solidFill>
                <a:latin typeface="Segoe UI Semibold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801368"/>
            <a:ext cx="96012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1E293B"/>
                </a:solidFill>
                <a:latin typeface="Segoe UI"/>
              </a:rPr>
              <a:t>El problema que resolvemos</a:t>
            </a:r>
          </a:p>
        </p:txBody>
      </p:sp>
      <p:sp>
        <p:nvSpPr>
          <p:cNvPr id="7" name="Rectangle 6"/>
          <p:cNvSpPr/>
          <p:nvPr/>
        </p:nvSpPr>
        <p:spPr>
          <a:xfrm>
            <a:off x="1554480" y="2313432"/>
            <a:ext cx="9326880" cy="101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2563EB"/>
                </a:solidFill>
                <a:latin typeface="Segoe UI Semibold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514600"/>
            <a:ext cx="96012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1E293B"/>
                </a:solidFill>
                <a:latin typeface="Segoe UI"/>
              </a:rPr>
              <a:t>La solución y su propuesta de valor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54480" y="3026664"/>
            <a:ext cx="9326880" cy="101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209544"/>
            <a:ext cx="73152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2563EB"/>
                </a:solidFill>
                <a:latin typeface="Segoe UI Semibold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227832"/>
            <a:ext cx="96012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1E293B"/>
                </a:solidFill>
                <a:latin typeface="Segoe UI"/>
              </a:rPr>
              <a:t>Recorrido por las funcionalidades — demo en vivo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554480" y="3739896"/>
            <a:ext cx="9326880" cy="101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922776"/>
            <a:ext cx="73152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2563EB"/>
                </a:solidFill>
                <a:latin typeface="Segoe UI Semibold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941063"/>
            <a:ext cx="96012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1E293B"/>
                </a:solidFill>
                <a:latin typeface="Segoe UI"/>
              </a:rPr>
              <a:t>Control de cupo y validaciones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554480" y="4453128"/>
            <a:ext cx="9326880" cy="101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636008"/>
            <a:ext cx="73152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2563EB"/>
                </a:solidFill>
                <a:latin typeface="Segoe UI Semibold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4654296"/>
            <a:ext cx="96012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1E293B"/>
                </a:solidFill>
                <a:latin typeface="Segoe UI"/>
              </a:rPr>
              <a:t>Información y estadísticas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554480" y="5166360"/>
            <a:ext cx="9326880" cy="101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349240"/>
            <a:ext cx="73152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2563EB"/>
                </a:solidFill>
                <a:latin typeface="Segoe UI Semibold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5367528"/>
            <a:ext cx="96012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1E293B"/>
                </a:solidFill>
                <a:latin typeface="Segoe UI"/>
              </a:rPr>
              <a:t>Cómo está construido y por qué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37376"/>
            <a:ext cx="731520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Segoe UI"/>
              </a:rPr>
              <a:t>Grupo 15  ·  Paradigmas de la Programación  ·  FP-UNA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37376"/>
            <a:ext cx="77724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4748B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91440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502920"/>
            <a:ext cx="10058400" cy="310896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14B8A6"/>
                </a:solidFill>
                <a:latin typeface="Segoe UI"/>
              </a:rPr>
              <a:t>CONTEXTO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786384"/>
            <a:ext cx="107899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0E2238"/>
                </a:solidFill>
                <a:latin typeface="Segoe UI Semibold"/>
              </a:rPr>
              <a:t>El problema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1874519"/>
            <a:ext cx="146304" cy="146304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773936"/>
            <a:ext cx="100584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E2238"/>
                </a:solidFill>
                <a:latin typeface="Segoe UI Semibold"/>
              </a:rPr>
              <a:t>Caos sin herramientas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100584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64748B"/>
                </a:solidFill>
                <a:latin typeface="Segoe UI"/>
              </a:rPr>
              <a:t>Organizar muchos eventos en planillas sueltas se vuelve inmanejable.</a:t>
            </a:r>
          </a:p>
        </p:txBody>
      </p:sp>
      <p:sp>
        <p:nvSpPr>
          <p:cNvPr id="8" name="Oval 7"/>
          <p:cNvSpPr/>
          <p:nvPr/>
        </p:nvSpPr>
        <p:spPr>
          <a:xfrm>
            <a:off x="713232" y="2898648"/>
            <a:ext cx="146304" cy="146304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798064"/>
            <a:ext cx="100584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E2238"/>
                </a:solidFill>
                <a:latin typeface="Segoe UI Semibold"/>
              </a:rPr>
              <a:t>Sobreventa de entradas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163824"/>
            <a:ext cx="100584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64748B"/>
                </a:solidFill>
                <a:latin typeface="Segoe UI"/>
              </a:rPr>
              <a:t>Es fácil vender más entradas que la capacidad real del evento.</a:t>
            </a:r>
          </a:p>
        </p:txBody>
      </p:sp>
      <p:sp>
        <p:nvSpPr>
          <p:cNvPr id="11" name="Oval 10"/>
          <p:cNvSpPr/>
          <p:nvPr/>
        </p:nvSpPr>
        <p:spPr>
          <a:xfrm>
            <a:off x="713232" y="3922776"/>
            <a:ext cx="146304" cy="146304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822192"/>
            <a:ext cx="100584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E2238"/>
                </a:solidFill>
                <a:latin typeface="Segoe UI Semibold"/>
              </a:rPr>
              <a:t>Sin control de estado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187952"/>
            <a:ext cx="100584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64748B"/>
                </a:solidFill>
                <a:latin typeface="Segoe UI"/>
              </a:rPr>
              <a:t>Se pierde de vista qué eventos están confirmados y cuáles no.</a:t>
            </a:r>
          </a:p>
        </p:txBody>
      </p:sp>
      <p:sp>
        <p:nvSpPr>
          <p:cNvPr id="14" name="Oval 13"/>
          <p:cNvSpPr/>
          <p:nvPr/>
        </p:nvSpPr>
        <p:spPr>
          <a:xfrm>
            <a:off x="713232" y="4946904"/>
            <a:ext cx="146304" cy="146304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846320"/>
            <a:ext cx="100584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E2238"/>
                </a:solidFill>
                <a:latin typeface="Segoe UI Semibold"/>
              </a:rPr>
              <a:t>Sin visión global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212080"/>
            <a:ext cx="100584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64748B"/>
                </a:solidFill>
                <a:latin typeface="Segoe UI"/>
              </a:rPr>
              <a:t>Falta una foto rápida: ocupación, totales, categorías.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37376"/>
            <a:ext cx="731520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Segoe UI"/>
              </a:rPr>
              <a:t>Grupo 15  ·  Paradigmas de la Programación  ·  FP-UNA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37376"/>
            <a:ext cx="77724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4748B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91440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502920"/>
            <a:ext cx="10058400" cy="310896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14B8A6"/>
                </a:solidFill>
                <a:latin typeface="Segoe UI"/>
              </a:rPr>
              <a:t>PROPUESTA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786384"/>
            <a:ext cx="107899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0E2238"/>
                </a:solidFill>
                <a:latin typeface="Segoe UI Semibold"/>
              </a:rPr>
              <a:t>Nuestra solución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1078992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64748B"/>
                </a:solidFill>
                <a:latin typeface="Segoe UI"/>
              </a:rPr>
              <a:t>Una aplicación que centraliza la gestión de una agenda de eventos.</a:t>
            </a:r>
          </a:p>
        </p:txBody>
      </p:sp>
      <p:sp>
        <p:nvSpPr>
          <p:cNvPr id="6" name="Oval 5"/>
          <p:cNvSpPr/>
          <p:nvPr/>
        </p:nvSpPr>
        <p:spPr>
          <a:xfrm>
            <a:off x="749808" y="2276856"/>
            <a:ext cx="256032" cy="256032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2240280"/>
            <a:ext cx="25603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203704"/>
            <a:ext cx="1005840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1E293B"/>
                </a:solidFill>
                <a:latin typeface="Segoe UI"/>
              </a:rPr>
              <a:t>Registro centralizado de todos los eventos</a:t>
            </a:r>
          </a:p>
        </p:txBody>
      </p:sp>
      <p:sp>
        <p:nvSpPr>
          <p:cNvPr id="9" name="Oval 8"/>
          <p:cNvSpPr/>
          <p:nvPr/>
        </p:nvSpPr>
        <p:spPr>
          <a:xfrm>
            <a:off x="749808" y="3026664"/>
            <a:ext cx="256032" cy="256032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2990088"/>
            <a:ext cx="25603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953512"/>
            <a:ext cx="1005840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1E293B"/>
                </a:solidFill>
                <a:latin typeface="Segoe UI"/>
              </a:rPr>
              <a:t>Venta de entradas con control automático de cupo</a:t>
            </a:r>
          </a:p>
        </p:txBody>
      </p:sp>
      <p:sp>
        <p:nvSpPr>
          <p:cNvPr id="12" name="Oval 11"/>
          <p:cNvSpPr/>
          <p:nvPr/>
        </p:nvSpPr>
        <p:spPr>
          <a:xfrm>
            <a:off x="749808" y="3776472"/>
            <a:ext cx="256032" cy="256032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3739896"/>
            <a:ext cx="25603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703320"/>
            <a:ext cx="1005840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1E293B"/>
                </a:solidFill>
                <a:latin typeface="Segoe UI"/>
              </a:rPr>
              <a:t>Seguimiento de confirmaciones</a:t>
            </a:r>
          </a:p>
        </p:txBody>
      </p:sp>
      <p:sp>
        <p:nvSpPr>
          <p:cNvPr id="15" name="Oval 14"/>
          <p:cNvSpPr/>
          <p:nvPr/>
        </p:nvSpPr>
        <p:spPr>
          <a:xfrm>
            <a:off x="749808" y="4526280"/>
            <a:ext cx="256032" cy="256032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4489704"/>
            <a:ext cx="25603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453128"/>
            <a:ext cx="1005840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1E293B"/>
                </a:solidFill>
                <a:latin typeface="Segoe UI"/>
              </a:rPr>
              <a:t>Estadísticas inmediatas de la colección</a:t>
            </a:r>
          </a:p>
        </p:txBody>
      </p:sp>
      <p:sp>
        <p:nvSpPr>
          <p:cNvPr id="18" name="Oval 17"/>
          <p:cNvSpPr/>
          <p:nvPr/>
        </p:nvSpPr>
        <p:spPr>
          <a:xfrm>
            <a:off x="749808" y="5276088"/>
            <a:ext cx="256032" cy="256032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" y="5239512"/>
            <a:ext cx="25603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202936"/>
            <a:ext cx="1005840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1E293B"/>
                </a:solidFill>
                <a:latin typeface="Segoe UI"/>
              </a:rPr>
              <a:t>Búsqueda y filtrado al instante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37376"/>
            <a:ext cx="731520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Segoe UI"/>
              </a:rPr>
              <a:t>Grupo 15  ·  Paradigmas de la Programación  ·  FP-UNA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37376"/>
            <a:ext cx="77724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4748B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91440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502920"/>
            <a:ext cx="10058400" cy="310896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14B8A6"/>
                </a:solidFill>
                <a:latin typeface="Segoe UI"/>
              </a:rPr>
              <a:t>CAPACIDADES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786384"/>
            <a:ext cx="107899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0E2238"/>
                </a:solidFill>
                <a:latin typeface="Segoe UI Semibold"/>
              </a:rPr>
              <a:t>Todo lo que podés hacer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828800"/>
            <a:ext cx="2670048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41832" y="2084832"/>
            <a:ext cx="502920" cy="5029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743200"/>
            <a:ext cx="2212848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0E2238"/>
                </a:solidFill>
                <a:latin typeface="Segoe UI Semibold"/>
              </a:rPr>
              <a:t>Registrar eventos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93008" y="1828800"/>
            <a:ext cx="2670048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21608" y="2084832"/>
            <a:ext cx="502920" cy="50292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21608" y="2743200"/>
            <a:ext cx="2212848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0E2238"/>
                </a:solidFill>
                <a:latin typeface="Segoe UI Semibold"/>
              </a:rPr>
              <a:t>Listar y consultar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2784" y="1828800"/>
            <a:ext cx="2670048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01384" y="2084832"/>
            <a:ext cx="502920" cy="5029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01384" y="2743200"/>
            <a:ext cx="2212848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0E2238"/>
                </a:solidFill>
                <a:latin typeface="Segoe UI Semibold"/>
              </a:rPr>
              <a:t>Buscar por nombre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52560" y="1828800"/>
            <a:ext cx="2670048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281160" y="2084832"/>
            <a:ext cx="502920" cy="50292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81160" y="2743200"/>
            <a:ext cx="2212848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0E2238"/>
                </a:solidFill>
                <a:latin typeface="Segoe UI Semibold"/>
              </a:rPr>
              <a:t>Filtrar por categoría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3584448"/>
            <a:ext cx="2670048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41832" y="3840480"/>
            <a:ext cx="502920" cy="5029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4498848"/>
            <a:ext cx="2212848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0E2238"/>
                </a:solidFill>
                <a:latin typeface="Segoe UI Semibold"/>
              </a:rPr>
              <a:t>Vender entradas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584448"/>
            <a:ext cx="2670048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721608" y="3840480"/>
            <a:ext cx="502920" cy="50292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 Semibold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21608" y="4498848"/>
            <a:ext cx="2212848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0E2238"/>
                </a:solidFill>
                <a:latin typeface="Segoe UI Semibold"/>
              </a:rPr>
              <a:t>Confirmar eventos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72784" y="3584448"/>
            <a:ext cx="2670048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01384" y="3840480"/>
            <a:ext cx="502920" cy="5029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 Semibold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01384" y="4498848"/>
            <a:ext cx="2212848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0E2238"/>
                </a:solidFill>
                <a:latin typeface="Segoe UI Semibold"/>
              </a:rPr>
              <a:t>Ver estadísticas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52560" y="3584448"/>
            <a:ext cx="2670048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281160" y="3840480"/>
            <a:ext cx="502920" cy="50292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 Semibold"/>
              </a:rPr>
              <a:t>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81160" y="4498848"/>
            <a:ext cx="2212848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0E2238"/>
                </a:solidFill>
                <a:latin typeface="Segoe UI Semibold"/>
              </a:rPr>
              <a:t>Análisis avanzado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37376"/>
            <a:ext cx="731520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Segoe UI"/>
              </a:rPr>
              <a:t>Grupo 15  ·  Paradigmas de la Programación  ·  FP-UNA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37376"/>
            <a:ext cx="77724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4748B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91440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502920"/>
            <a:ext cx="10058400" cy="310896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14B8A6"/>
                </a:solidFill>
                <a:latin typeface="Segoe UI"/>
              </a:rPr>
              <a:t>DEMOSTRACIÓN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786384"/>
            <a:ext cx="107899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0E2238"/>
                </a:solidFill>
                <a:latin typeface="Segoe UI Semibold"/>
              </a:rPr>
              <a:t>El sistema en acción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0" y="566928"/>
            <a:ext cx="2651760" cy="548640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566928"/>
            <a:ext cx="2651760" cy="5486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● DEMO EN VIVO</a:t>
            </a:r>
          </a:p>
        </p:txBody>
      </p:sp>
      <p:sp>
        <p:nvSpPr>
          <p:cNvPr id="7" name="Oval 6"/>
          <p:cNvSpPr/>
          <p:nvPr/>
        </p:nvSpPr>
        <p:spPr>
          <a:xfrm>
            <a:off x="749808" y="1874519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819655"/>
            <a:ext cx="100584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E2238"/>
                </a:solidFill>
                <a:latin typeface="Segoe UI Semibold"/>
              </a:rPr>
              <a:t>Crear la agenda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185415"/>
            <a:ext cx="100584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64748B"/>
                </a:solidFill>
                <a:latin typeface="Segoe UI"/>
              </a:rPr>
              <a:t>Nombre de la colección y deporte de especialización.</a:t>
            </a:r>
          </a:p>
        </p:txBody>
      </p:sp>
      <p:sp>
        <p:nvSpPr>
          <p:cNvPr id="10" name="Oval 9"/>
          <p:cNvSpPr/>
          <p:nvPr/>
        </p:nvSpPr>
        <p:spPr>
          <a:xfrm>
            <a:off x="749808" y="2898648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2843784"/>
            <a:ext cx="100584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E2238"/>
                </a:solidFill>
                <a:latin typeface="Segoe UI Semibold"/>
              </a:rPr>
              <a:t>Cargar eventos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209544"/>
            <a:ext cx="100584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64748B"/>
                </a:solidFill>
                <a:latin typeface="Segoe UI"/>
              </a:rPr>
              <a:t>Damos de alta un par de eventos con sus datos.</a:t>
            </a:r>
          </a:p>
        </p:txBody>
      </p:sp>
      <p:sp>
        <p:nvSpPr>
          <p:cNvPr id="13" name="Oval 12"/>
          <p:cNvSpPr/>
          <p:nvPr/>
        </p:nvSpPr>
        <p:spPr>
          <a:xfrm>
            <a:off x="749808" y="3922776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867912"/>
            <a:ext cx="100584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E2238"/>
                </a:solidFill>
                <a:latin typeface="Segoe UI Semibold"/>
              </a:rPr>
              <a:t>Listar y consultar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233672"/>
            <a:ext cx="100584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64748B"/>
                </a:solidFill>
                <a:latin typeface="Segoe UI"/>
              </a:rPr>
              <a:t>Vemos todos los eventos cargados.</a:t>
            </a:r>
          </a:p>
        </p:txBody>
      </p:sp>
      <p:sp>
        <p:nvSpPr>
          <p:cNvPr id="16" name="Oval 15"/>
          <p:cNvSpPr/>
          <p:nvPr/>
        </p:nvSpPr>
        <p:spPr>
          <a:xfrm>
            <a:off x="749808" y="4946904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892040"/>
            <a:ext cx="100584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E2238"/>
                </a:solidFill>
                <a:latin typeface="Segoe UI Semibold"/>
              </a:rPr>
              <a:t>Buscar y filtrar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257800"/>
            <a:ext cx="100584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64748B"/>
                </a:solidFill>
                <a:latin typeface="Segoe UI"/>
              </a:rPr>
              <a:t>Búsqueda por nombre y filtro por categoría, al instante.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37376"/>
            <a:ext cx="731520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Segoe UI"/>
              </a:rPr>
              <a:t>Grupo 15  ·  Paradigmas de la Programación  ·  FP-UNA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37376"/>
            <a:ext cx="77724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4748B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91440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502920"/>
            <a:ext cx="10058400" cy="310896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14B8A6"/>
                </a:solidFill>
                <a:latin typeface="Segoe UI"/>
              </a:rPr>
              <a:t>CONFIANZA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786384"/>
            <a:ext cx="107899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0E2238"/>
                </a:solidFill>
                <a:latin typeface="Segoe UI Semibold"/>
              </a:rPr>
              <a:t>Un sistema que cuida tus datos</a:t>
            </a:r>
          </a:p>
        </p:txBody>
      </p:sp>
      <p:sp>
        <p:nvSpPr>
          <p:cNvPr id="5" name="Oval 4"/>
          <p:cNvSpPr/>
          <p:nvPr/>
        </p:nvSpPr>
        <p:spPr>
          <a:xfrm>
            <a:off x="749808" y="1755648"/>
            <a:ext cx="310896" cy="310896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728216"/>
            <a:ext cx="310896" cy="32918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1872" y="1682495"/>
            <a:ext cx="100584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1">
                <a:solidFill>
                  <a:srgbClr val="0E2238"/>
                </a:solidFill>
                <a:latin typeface="Segoe UI Semibold"/>
              </a:rPr>
              <a:t>No permite sobrevender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1872" y="2029967"/>
            <a:ext cx="100584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Si no queda cupo, la venta se rechaza automáticamente.</a:t>
            </a:r>
          </a:p>
        </p:txBody>
      </p:sp>
      <p:sp>
        <p:nvSpPr>
          <p:cNvPr id="9" name="Oval 8"/>
          <p:cNvSpPr/>
          <p:nvPr/>
        </p:nvSpPr>
        <p:spPr>
          <a:xfrm>
            <a:off x="749808" y="2624327"/>
            <a:ext cx="310896" cy="310896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596896"/>
            <a:ext cx="310896" cy="32918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872" y="2551175"/>
            <a:ext cx="100584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1">
                <a:solidFill>
                  <a:srgbClr val="0E2238"/>
                </a:solidFill>
                <a:latin typeface="Segoe UI Semibold"/>
              </a:rPr>
              <a:t>Valida la fecha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2898647"/>
            <a:ext cx="100584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Solo acepta fechas reales en formato AAAA-MM-DD.</a:t>
            </a:r>
          </a:p>
        </p:txBody>
      </p:sp>
      <p:sp>
        <p:nvSpPr>
          <p:cNvPr id="13" name="Oval 12"/>
          <p:cNvSpPr/>
          <p:nvPr/>
        </p:nvSpPr>
        <p:spPr>
          <a:xfrm>
            <a:off x="749808" y="3493008"/>
            <a:ext cx="310896" cy="310896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3465576"/>
            <a:ext cx="310896" cy="32918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3419856"/>
            <a:ext cx="100584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1">
                <a:solidFill>
                  <a:srgbClr val="0E2238"/>
                </a:solidFill>
                <a:latin typeface="Segoe UI Semibold"/>
              </a:rPr>
              <a:t>Valida el cupo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767328"/>
            <a:ext cx="100584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Debe ser un número positivo; no admite valores inválidos.</a:t>
            </a:r>
          </a:p>
        </p:txBody>
      </p:sp>
      <p:sp>
        <p:nvSpPr>
          <p:cNvPr id="17" name="Oval 16"/>
          <p:cNvSpPr/>
          <p:nvPr/>
        </p:nvSpPr>
        <p:spPr>
          <a:xfrm>
            <a:off x="749808" y="4361688"/>
            <a:ext cx="310896" cy="310896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4334256"/>
            <a:ext cx="310896" cy="32918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61872" y="4288536"/>
            <a:ext cx="100584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1">
                <a:solidFill>
                  <a:srgbClr val="0E2238"/>
                </a:solidFill>
                <a:latin typeface="Segoe UI Semibold"/>
              </a:rPr>
              <a:t>No se rompe con errores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61872" y="4636008"/>
            <a:ext cx="100584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Ante un dato mal ingresado, lo vuelve a pedir sin caerse.</a:t>
            </a:r>
          </a:p>
        </p:txBody>
      </p:sp>
      <p:sp>
        <p:nvSpPr>
          <p:cNvPr id="21" name="Oval 20"/>
          <p:cNvSpPr/>
          <p:nvPr/>
        </p:nvSpPr>
        <p:spPr>
          <a:xfrm>
            <a:off x="749808" y="5230368"/>
            <a:ext cx="310896" cy="310896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202936"/>
            <a:ext cx="310896" cy="32918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61872" y="5157216"/>
            <a:ext cx="100584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1">
                <a:solidFill>
                  <a:srgbClr val="0E2238"/>
                </a:solidFill>
                <a:latin typeface="Segoe UI Semibold"/>
              </a:rPr>
              <a:t>Datos protegidos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61872" y="5504688"/>
            <a:ext cx="100584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Las entradas vendidas no se pueden alterar a mano.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37376"/>
            <a:ext cx="731520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Segoe UI"/>
              </a:rPr>
              <a:t>Grupo 15  ·  Paradigmas de la Programación  ·  FP-UNA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37376"/>
            <a:ext cx="77724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4748B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A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91440" cy="5669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502920"/>
            <a:ext cx="10058400" cy="310896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14B8A6"/>
                </a:solidFill>
                <a:latin typeface="Segoe UI"/>
              </a:rPr>
              <a:t>VALOR ANALÍTICO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786384"/>
            <a:ext cx="107899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Segoe UI Semibold"/>
              </a:rPr>
              <a:t>La foto completa, al instante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828800"/>
            <a:ext cx="3456432" cy="1554480"/>
          </a:xfrm>
          <a:prstGeom prst="roundRect">
            <a:avLst/>
          </a:prstGeom>
          <a:solidFill>
            <a:srgbClr val="1A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13232" y="1828800"/>
            <a:ext cx="3456432" cy="91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121408"/>
            <a:ext cx="2907792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Segoe UI Semibold"/>
              </a:rPr>
              <a:t>Ocupación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2670048"/>
            <a:ext cx="2907792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B7C6D9"/>
                </a:solidFill>
                <a:latin typeface="Segoe UI"/>
              </a:rPr>
              <a:t>Entradas vendidas sobre el cupo total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2544" y="1828800"/>
            <a:ext cx="3456432" cy="1554480"/>
          </a:xfrm>
          <a:prstGeom prst="roundRect">
            <a:avLst/>
          </a:prstGeom>
          <a:solidFill>
            <a:srgbClr val="1A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52544" y="1828800"/>
            <a:ext cx="3456432" cy="91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6864" y="2121408"/>
            <a:ext cx="2907792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Segoe UI Semibold"/>
              </a:rPr>
              <a:t>Estado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2670048"/>
            <a:ext cx="2907792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B7C6D9"/>
                </a:solidFill>
                <a:latin typeface="Segoe UI"/>
              </a:rPr>
              <a:t>Confirmados vs. pendientes de un vistazo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91856" y="1828800"/>
            <a:ext cx="3456432" cy="1554480"/>
          </a:xfrm>
          <a:prstGeom prst="roundRect">
            <a:avLst/>
          </a:prstGeom>
          <a:solidFill>
            <a:srgbClr val="1A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91856" y="1828800"/>
            <a:ext cx="3456432" cy="91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6176" y="2121408"/>
            <a:ext cx="2907792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Segoe UI Semibold"/>
              </a:rPr>
              <a:t>Categorías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6" y="2670048"/>
            <a:ext cx="2907792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B7C6D9"/>
                </a:solidFill>
                <a:latin typeface="Segoe UI"/>
              </a:rPr>
              <a:t>Qué tipos de evento componen la agenda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840480"/>
            <a:ext cx="105156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Además — análisis avanzado:</a:t>
            </a:r>
          </a:p>
        </p:txBody>
      </p:sp>
      <p:sp>
        <p:nvSpPr>
          <p:cNvPr id="18" name="Oval 17"/>
          <p:cNvSpPr/>
          <p:nvPr/>
        </p:nvSpPr>
        <p:spPr>
          <a:xfrm>
            <a:off x="822960" y="4407408"/>
            <a:ext cx="146304" cy="146304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4306824"/>
            <a:ext cx="100584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D8E2EF"/>
                </a:solidFill>
                <a:latin typeface="Segoe UI"/>
              </a:rPr>
              <a:t>Listar los eventos confirmados</a:t>
            </a:r>
          </a:p>
        </p:txBody>
      </p:sp>
      <p:sp>
        <p:nvSpPr>
          <p:cNvPr id="20" name="Oval 19"/>
          <p:cNvSpPr/>
          <p:nvPr/>
        </p:nvSpPr>
        <p:spPr>
          <a:xfrm>
            <a:off x="822960" y="4864608"/>
            <a:ext cx="146304" cy="146304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64024"/>
            <a:ext cx="100584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D8E2EF"/>
                </a:solidFill>
                <a:latin typeface="Segoe UI"/>
              </a:rPr>
              <a:t>Generar resúmenes de la colección</a:t>
            </a:r>
          </a:p>
        </p:txBody>
      </p:sp>
      <p:sp>
        <p:nvSpPr>
          <p:cNvPr id="22" name="Oval 21"/>
          <p:cNvSpPr/>
          <p:nvPr/>
        </p:nvSpPr>
        <p:spPr>
          <a:xfrm>
            <a:off x="822960" y="5321808"/>
            <a:ext cx="146304" cy="146304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5221224"/>
            <a:ext cx="100584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D8E2EF"/>
                </a:solidFill>
                <a:latin typeface="Segoe UI"/>
              </a:rPr>
              <a:t>Ordenar por fecha, nombre o capacidad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37376"/>
            <a:ext cx="731520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Segoe UI"/>
              </a:rPr>
              <a:t>Grupo 15  ·  Paradigmas de la Programación  ·  FP-UNA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37376"/>
            <a:ext cx="77724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4748B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91440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502920"/>
            <a:ext cx="10058400" cy="310896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14B8A6"/>
                </a:solidFill>
                <a:latin typeface="Segoe UI"/>
              </a:rPr>
              <a:t>ARQUITECTURA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786384"/>
            <a:ext cx="107899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0E2238"/>
                </a:solidFill>
                <a:latin typeface="Segoe UI Semibold"/>
              </a:rPr>
              <a:t>Cómo está construido (en simple)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783080"/>
            <a:ext cx="146304" cy="9144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60120" y="1783080"/>
            <a:ext cx="7040880" cy="9144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1929384"/>
            <a:ext cx="658368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E2238"/>
                </a:solidFill>
                <a:latin typeface="Segoe UI Semibold"/>
              </a:rPr>
              <a:t>Evento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295144"/>
            <a:ext cx="658368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64748B"/>
                </a:solidFill>
                <a:latin typeface="Segoe UI"/>
              </a:rPr>
              <a:t>Cada evento individual, con sus datos y sus reglas propias.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2880360"/>
            <a:ext cx="146304" cy="9144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60120" y="2880360"/>
            <a:ext cx="7040880" cy="9144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026664"/>
            <a:ext cx="658368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E2238"/>
                </a:solidFill>
                <a:latin typeface="Segoe UI Semibold"/>
              </a:rPr>
              <a:t>Agenda de eventos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392424"/>
            <a:ext cx="658368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64748B"/>
                </a:solidFill>
                <a:latin typeface="Segoe UI"/>
              </a:rPr>
              <a:t>El contenedor que gestiona toda la colección.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3977639"/>
            <a:ext cx="146304" cy="9144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60120" y="3977639"/>
            <a:ext cx="7040880" cy="9144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123944"/>
            <a:ext cx="658368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E2238"/>
                </a:solidFill>
                <a:latin typeface="Segoe UI Semibold"/>
              </a:rPr>
              <a:t>Agenda deportiva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489704"/>
            <a:ext cx="658368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64748B"/>
                </a:solidFill>
                <a:latin typeface="Segoe UI"/>
              </a:rPr>
              <a:t>Una agenda especializada en un deporte; reutiliza la base.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783080"/>
            <a:ext cx="3246120" cy="3291840"/>
          </a:xfrm>
          <a:prstGeom prst="roundRect">
            <a:avLst/>
          </a:prstGeom>
          <a:solidFill>
            <a:srgbClr val="0E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783080"/>
            <a:ext cx="3246120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0" y="2103120"/>
            <a:ext cx="27432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4B8A6"/>
                </a:solidFill>
                <a:latin typeface="Segoe UI"/>
              </a:rPr>
              <a:t>Clave de diseño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2560320"/>
            <a:ext cx="2743200" cy="22860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 Semibold"/>
              </a:rPr>
              <a:t>La lógica está separada de la pantalla.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600" b="0">
                <a:solidFill>
                  <a:srgbClr val="FFFFFF"/>
                </a:solidFill>
                <a:latin typeface="Segoe UI"/>
              </a:rPr>
              <a:t/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2D0E0"/>
                </a:solidFill>
                <a:latin typeface="Segoe UI"/>
              </a:rPr>
              <a:t>El corazón del sistema no depende de cómo se muestre la información.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37376"/>
            <a:ext cx="731520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Segoe UI"/>
              </a:rPr>
              <a:t>Grupo 15  ·  Paradigmas de la Programación  ·  FP-UNA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37376"/>
            <a:ext cx="77724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4748B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91440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502920"/>
            <a:ext cx="10058400" cy="310896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14B8A6"/>
                </a:solidFill>
                <a:latin typeface="Segoe UI"/>
              </a:rPr>
              <a:t>DISEÑO TÉCNICO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786384"/>
            <a:ext cx="107899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0E2238"/>
                </a:solidFill>
                <a:latin typeface="Segoe UI Semibold"/>
              </a:rPr>
              <a:t>El modelo en un vistazo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2592517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iagrama_G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00200"/>
            <a:ext cx="2318197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0" y="1737360"/>
            <a:ext cx="329184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E2238"/>
                </a:solidFill>
                <a:latin typeface="Segoe UI Semibold"/>
              </a:rPr>
              <a:t>Cómo leerlo</a:t>
            </a:r>
          </a:p>
        </p:txBody>
      </p:sp>
      <p:sp>
        <p:nvSpPr>
          <p:cNvPr id="8" name="Oval 7"/>
          <p:cNvSpPr/>
          <p:nvPr/>
        </p:nvSpPr>
        <p:spPr>
          <a:xfrm>
            <a:off x="8229600" y="2404872"/>
            <a:ext cx="146304" cy="146304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22208" y="2304288"/>
            <a:ext cx="301752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2238"/>
                </a:solidFill>
                <a:latin typeface="Segoe UI Semibold"/>
              </a:rPr>
              <a:t>Herencia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22208" y="2633472"/>
            <a:ext cx="30175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64748B"/>
                </a:solidFill>
                <a:latin typeface="Segoe UI"/>
              </a:rPr>
              <a:t>La agenda deportiva ES una agenda de eventos especializada.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0" y="3364992"/>
            <a:ext cx="146304" cy="146304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22208" y="3264408"/>
            <a:ext cx="301752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2238"/>
                </a:solidFill>
                <a:latin typeface="Segoe UI Semibold"/>
              </a:rPr>
              <a:t>Composición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22208" y="3593592"/>
            <a:ext cx="30175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64748B"/>
                </a:solidFill>
                <a:latin typeface="Segoe UI"/>
              </a:rPr>
              <a:t>La agenda contiene de 0 a muchos eventos.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0" y="4325112"/>
            <a:ext cx="146304" cy="146304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22208" y="4224528"/>
            <a:ext cx="301752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2238"/>
                </a:solidFill>
                <a:latin typeface="Segoe UI Semibold"/>
              </a:rPr>
              <a:t>Validación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22208" y="4553712"/>
            <a:ext cx="30175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64748B"/>
                </a:solidFill>
                <a:latin typeface="Segoe UI"/>
              </a:rPr>
              <a:t>Los datos sensibles se protegen con reglas (properties).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37376"/>
            <a:ext cx="731520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Segoe UI"/>
              </a:rPr>
              <a:t>Grupo 15  ·  Paradigmas de la Programación  ·  FP-UNA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37376"/>
            <a:ext cx="77724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4748B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91440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502920"/>
            <a:ext cx="10058400" cy="310896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14B8A6"/>
                </a:solidFill>
                <a:latin typeface="Segoe UI"/>
              </a:rPr>
              <a:t>VISIÓN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786384"/>
            <a:ext cx="107899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0E2238"/>
                </a:solidFill>
                <a:latin typeface="Segoe UI Semibold"/>
              </a:rPr>
              <a:t>Diseñado para crecer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828800"/>
            <a:ext cx="107442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13232" y="1828800"/>
            <a:ext cx="128016" cy="1143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011680"/>
            <a:ext cx="100584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E2238"/>
                </a:solidFill>
                <a:latin typeface="Segoe UI Semibold"/>
              </a:rPr>
              <a:t>Interfaz intercambiable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395728"/>
            <a:ext cx="100584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La lógica está desacoplada: hoy es consola, mañana podría ser una app gráfica o web reutilizando el mismo motor.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3200400"/>
            <a:ext cx="107442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3200400"/>
            <a:ext cx="128016" cy="1143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383280"/>
            <a:ext cx="100584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E2238"/>
                </a:solidFill>
                <a:latin typeface="Segoe UI Semibold"/>
              </a:rPr>
              <a:t>Abierto a extensión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767328"/>
            <a:ext cx="100584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Sumar un deporte nuevo o un tipo de agenda no requiere reescribir lo existente.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4572000"/>
            <a:ext cx="107442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3232" y="4572000"/>
            <a:ext cx="128016" cy="1143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754880"/>
            <a:ext cx="100584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E2238"/>
                </a:solidFill>
                <a:latin typeface="Segoe UI Semibold"/>
              </a:rPr>
              <a:t>Calidad de ingeniería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138928"/>
            <a:ext cx="100584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Código validado, con type hints, documentación técnica y diagrama UML.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37376"/>
            <a:ext cx="731520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Segoe UI"/>
              </a:rPr>
              <a:t>Grupo 15  ·  Paradigmas de la Programación  ·  FP-UNA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37376"/>
            <a:ext cx="77724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4748B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A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92640" y="4297680"/>
            <a:ext cx="3291840" cy="3291840"/>
          </a:xfrm>
          <a:prstGeom prst="ellipse">
            <a:avLst/>
          </a:prstGeom>
          <a:solidFill>
            <a:srgbClr val="18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194560"/>
            <a:ext cx="1371600" cy="11887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468880"/>
            <a:ext cx="10058400" cy="10058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800" b="1">
                <a:solidFill>
                  <a:srgbClr val="FFFFFF"/>
                </a:solidFill>
                <a:latin typeface="Segoe UI Semibold"/>
              </a:rPr>
              <a:t>Gracias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611880"/>
            <a:ext cx="96012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B7C6D9"/>
                </a:solidFill>
                <a:latin typeface="Segoe UI"/>
              </a:rPr>
              <a:t>Un sistema que centraliza, valida y analiza tus eventos.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4343400"/>
            <a:ext cx="6766560" cy="15240"/>
          </a:xfrm>
          <a:prstGeom prst="rect">
            <a:avLst/>
          </a:prstGeom>
          <a:solidFill>
            <a:srgbClr val="2B47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100584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14B8A6"/>
                </a:solidFill>
                <a:latin typeface="Segoe UI Semibold"/>
              </a:rPr>
              <a:t>¿Preguntas?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5577840"/>
            <a:ext cx="100584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8CA1BC"/>
                </a:solidFill>
                <a:latin typeface="Segoe UI"/>
              </a:rPr>
              <a:t>Grupo 15   ·   Paradigmas de la Programación   ·   FP-UNA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